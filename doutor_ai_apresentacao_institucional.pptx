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57200"/>
            <a:ext cx="201168" cy="2011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2628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0071BC"/>
                </a:solidFill>
                <a:latin typeface="Inter"/>
              </a:rPr>
              <a:t>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Inter"/>
              </a:rPr>
              <a:t>Doutor-AI</a:t>
            </a:r>
            <a:r>
              <a:rPr sz="900" b="0" i="0">
                <a:solidFill>
                  <a:srgbClr val="FFFFFF"/>
                </a:solidFill>
                <a:latin typeface="Inter"/>
              </a:rPr>
              <a:t>  ·  </a:t>
            </a:r>
            <a:r>
              <a:rPr sz="750" b="0" i="0" spc="140">
                <a:solidFill>
                  <a:srgbClr val="FFFFFF"/>
                </a:solidFill>
                <a:latin typeface="JetBrains Mono"/>
              </a:rPr>
              <a:t>Apresentação Institucional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94015" y="47548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 i="0" spc="140">
                <a:solidFill>
                  <a:srgbClr val="FFFFFF"/>
                </a:solidFill>
                <a:latin typeface="JetBrains Mono"/>
              </a:rPr>
              <a:t>V1.0 ·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749808"/>
            <a:ext cx="10911535" cy="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160">
                <a:solidFill>
                  <a:srgbClr val="FFFFFF"/>
                </a:solidFill>
                <a:latin typeface="JetBrains Mono"/>
              </a:rPr>
              <a:t>▸  APRESENTAÇÃO INSTITUCIONAL · INTERNA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10911535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9600" b="1" i="0" spc="-450">
                <a:solidFill>
                  <a:srgbClr val="FFFFFF"/>
                </a:solidFill>
                <a:latin typeface="Inter"/>
              </a:rPr>
              <a:t>Doutor AI.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40480"/>
            <a:ext cx="3200400" cy="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023360"/>
            <a:ext cx="10911535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0" i="0" spc="-60">
                <a:solidFill>
                  <a:srgbClr val="FFFFFF"/>
                </a:solidFill>
                <a:latin typeface="Inter"/>
              </a:rPr>
              <a:t>Inteligência artificial para transformar
</a:t>
            </a:r>
          </a:p>
          <a:p>
            <a:pPr algn="l">
              <a:lnSpc>
                <a:spcPct val="110000"/>
              </a:lnSpc>
            </a:pPr>
            <a:r>
              <a:rPr sz="2800" b="0" i="0" spc="-60">
                <a:solidFill>
                  <a:srgbClr val="FFFFFF"/>
                </a:solidFill>
                <a:latin typeface="Inter"/>
              </a:rPr>
              <a:t>a </a:t>
            </a:r>
            <a:r>
              <a:rPr sz="2800" b="1" i="1" spc="-60">
                <a:solidFill>
                  <a:srgbClr val="8FC3EA"/>
                </a:solidFill>
                <a:latin typeface="Inter"/>
              </a:rPr>
              <a:t>jornada</a:t>
            </a:r>
            <a:r>
              <a:rPr sz="2800" b="0" i="0" spc="-60">
                <a:solidFill>
                  <a:srgbClr val="FFFFFF"/>
                </a:solidFill>
                <a:latin typeface="Inter"/>
              </a:rPr>
              <a:t> de saúde.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49240"/>
            <a:ext cx="77724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FFFFFF"/>
                </a:solidFill>
                <a:latin typeface="Inter"/>
              </a:rPr>
              <a:t>Mais eficiência, inteligência operacional e suporte clínico para hospitais, operadoras, clínicas e plataformas de telemedicina.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989320"/>
            <a:ext cx="10911535" cy="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108192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 spc="160">
                <a:solidFill>
                  <a:srgbClr val="FFFFFF"/>
                </a:solidFill>
                <a:latin typeface="JetBrains Mono"/>
              </a:rPr>
              <a:t>DOCUMENTO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30936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Inter"/>
              </a:rPr>
              <a:t>Institucional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6108192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 spc="160">
                <a:solidFill>
                  <a:srgbClr val="FFFFFF"/>
                </a:solidFill>
                <a:latin typeface="JetBrains Mono"/>
              </a:rPr>
              <a:t>USO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630936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Inter"/>
              </a:rPr>
              <a:t>Interno · Comercial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6108192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 spc="160">
                <a:solidFill>
                  <a:srgbClr val="FFFFFF"/>
                </a:solidFill>
                <a:latin typeface="JetBrains Mono"/>
              </a:rPr>
              <a:t>SLIDES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630936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201168" cy="201168"/>
          </a:xfrm>
          <a:prstGeom prst="roundRect">
            <a:avLst>
              <a:gd name="adj" fmla="val 18000"/>
            </a:avLst>
          </a:prstGeom>
          <a:solidFill>
            <a:srgbClr val="007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2628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A1F2E"/>
                </a:solidFill>
                <a:latin typeface="Inter"/>
              </a:rPr>
              <a:t>Doutor-AI</a:t>
            </a:r>
            <a:r>
              <a:rPr sz="900" b="0" i="0">
                <a:solidFill>
                  <a:srgbClr val="9CA3AF"/>
                </a:solidFill>
                <a:latin typeface="Inter"/>
              </a:rPr>
              <a:t>  ·  </a:t>
            </a:r>
            <a:r>
              <a:rPr sz="750" b="0" i="0" spc="140">
                <a:solidFill>
                  <a:srgbClr val="9CA3AF"/>
                </a:solidFill>
                <a:latin typeface="JetBrains Mono"/>
              </a:rPr>
              <a:t>Apresentação Institucional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94015" y="47548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 i="0" spc="140">
                <a:solidFill>
                  <a:srgbClr val="9CA3AF"/>
                </a:solidFill>
                <a:latin typeface="JetBrains Mono"/>
              </a:rPr>
              <a:t>01 · QUEM SOMOS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749808"/>
            <a:ext cx="10911535" cy="700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160">
                <a:solidFill>
                  <a:srgbClr val="0071BC"/>
                </a:solidFill>
                <a:latin typeface="JetBrains Mono"/>
              </a:rPr>
              <a:t>▸  QUEM SOMOS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10972800" cy="1554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 spc="-100">
                <a:solidFill>
                  <a:srgbClr val="1A1F2E"/>
                </a:solidFill>
                <a:latin typeface="Inter"/>
              </a:rPr>
              <a:t>A camada de </a:t>
            </a:r>
            <a:r>
              <a:rPr sz="3600" b="1" i="1" spc="-100">
                <a:solidFill>
                  <a:srgbClr val="0071BC"/>
                </a:solidFill>
                <a:latin typeface="Inter"/>
              </a:rPr>
              <a:t>inteligência</a:t>
            </a:r>
            <a:r>
              <a:rPr sz="3600" b="0" i="0">
                <a:solidFill>
                  <a:srgbClr val="1A1F2E"/>
                </a:solidFill>
                <a:latin typeface="Inter"/>
              </a:rPr>
              <a:t>​</a:t>
            </a:r>
          </a:p>
          <a:p>
            <a:pPr algn="l">
              <a:lnSpc>
                <a:spcPct val="100000"/>
              </a:lnSpc>
            </a:pPr>
            <a:r>
              <a:rPr sz="3600" b="1" i="0" spc="-100">
                <a:solidFill>
                  <a:srgbClr val="1A1F2E"/>
                </a:solidFill>
                <a:latin typeface="Inter"/>
              </a:rPr>
              <a:t>assistencial e operacional.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1078992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4B5563"/>
                </a:solidFill>
                <a:latin typeface="Inter"/>
              </a:rPr>
              <a:t>A </a:t>
            </a:r>
            <a:r>
              <a:rPr sz="1300" b="1" i="0">
                <a:solidFill>
                  <a:srgbClr val="1A1F2E"/>
                </a:solidFill>
                <a:latin typeface="Inter"/>
              </a:rPr>
              <a:t>Doutor AI</a:t>
            </a:r>
            <a:r>
              <a:rPr sz="1300" b="0" i="0">
                <a:solidFill>
                  <a:srgbClr val="4B5563"/>
                </a:solidFill>
                <a:latin typeface="Inter"/>
              </a:rPr>
              <a:t> é uma health tech que aplica inteligência artificial em jornadas assistenciais e operacionais de saúde — conectando pacientes, profissionais e instituições em fluxos mais </a:t>
            </a:r>
            <a:r>
              <a:rPr sz="1300" b="1" i="0">
                <a:solidFill>
                  <a:srgbClr val="1A1F2E"/>
                </a:solidFill>
                <a:latin typeface="Inter"/>
              </a:rPr>
              <a:t>eficientes, seguros e inteligentes</a:t>
            </a:r>
            <a:r>
              <a:rPr sz="1300" b="0" i="0">
                <a:solidFill>
                  <a:srgbClr val="4B5563"/>
                </a:solidFill>
                <a:latin typeface="Inter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77639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160">
                <a:solidFill>
                  <a:srgbClr val="0071BC"/>
                </a:solidFill>
                <a:latin typeface="JetBrains Mono"/>
              </a:rPr>
              <a:t>▸  TRÊS PILARES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297680"/>
            <a:ext cx="3545738" cy="1783080"/>
          </a:xfrm>
          <a:prstGeom prst="rect">
            <a:avLst/>
          </a:prstGeom>
          <a:solidFill>
            <a:srgbClr val="FFFFFF"/>
          </a:solidFill>
          <a:ln w="60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4462272"/>
            <a:ext cx="3216554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160">
                <a:solidFill>
                  <a:srgbClr val="0071BC"/>
                </a:solidFill>
                <a:latin typeface="JetBrains Mono"/>
              </a:rPr>
              <a:t>01 · JORNADA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718304"/>
            <a:ext cx="321655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 spc="-40">
                <a:solidFill>
                  <a:srgbClr val="1A1F2E"/>
                </a:solidFill>
                <a:latin typeface="Inter"/>
              </a:rPr>
              <a:t>IA aplicada à jornada de saúde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120640"/>
            <a:ext cx="3216554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 i="0">
                <a:solidFill>
                  <a:srgbClr val="4B5563"/>
                </a:solidFill>
                <a:latin typeface="Inter"/>
              </a:rPr>
              <a:t>Conversas estruturadas, coleta clínica e orquestração de fluxos do pré ao pós-atendimento.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2978" y="4297680"/>
            <a:ext cx="3545738" cy="1783080"/>
          </a:xfrm>
          <a:prstGeom prst="rect">
            <a:avLst/>
          </a:prstGeom>
          <a:solidFill>
            <a:srgbClr val="FFFFFF"/>
          </a:solidFill>
          <a:ln w="60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7570" y="4462272"/>
            <a:ext cx="3216554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160">
                <a:solidFill>
                  <a:srgbClr val="0071BC"/>
                </a:solidFill>
                <a:latin typeface="JetBrains Mono"/>
              </a:rPr>
              <a:t>02 · AUTOMAÇÃO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7570" y="4718304"/>
            <a:ext cx="321655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 spc="-40">
                <a:solidFill>
                  <a:srgbClr val="1A1F2E"/>
                </a:solidFill>
                <a:latin typeface="Inter"/>
              </a:rPr>
              <a:t>Automação de tarefas operacionais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7570" y="5120640"/>
            <a:ext cx="3216554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 i="0">
                <a:solidFill>
                  <a:srgbClr val="4B5563"/>
                </a:solidFill>
                <a:latin typeface="Inter"/>
              </a:rPr>
              <a:t>Redução de retrabalho em processos repetitivos, registros e integrações entre sistemas.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5876" y="4297680"/>
            <a:ext cx="3545738" cy="1783080"/>
          </a:xfrm>
          <a:prstGeom prst="rect">
            <a:avLst/>
          </a:prstGeom>
          <a:solidFill>
            <a:srgbClr val="FFFFFF"/>
          </a:solidFill>
          <a:ln w="60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70468" y="4462272"/>
            <a:ext cx="3216554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160">
                <a:solidFill>
                  <a:srgbClr val="0071BC"/>
                </a:solidFill>
                <a:latin typeface="JetBrains Mono"/>
              </a:rPr>
              <a:t>03 · SUPORTE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0468" y="4718304"/>
            <a:ext cx="321655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 spc="-40">
                <a:solidFill>
                  <a:srgbClr val="1A1F2E"/>
                </a:solidFill>
                <a:latin typeface="Inter"/>
              </a:rPr>
              <a:t>Suporte à decisão e ao atendimento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0468" y="5120640"/>
            <a:ext cx="3216554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 i="0">
                <a:solidFill>
                  <a:srgbClr val="4B5563"/>
                </a:solidFill>
                <a:latin typeface="Inter"/>
              </a:rPr>
              <a:t>Copiloto clínico, alertas e protocolos para apoiar — não substituir — o profissional de saúde.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922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 spc="140">
                <a:solidFill>
                  <a:srgbClr val="9CA3AF"/>
                </a:solidFill>
                <a:latin typeface="JetBrains Mono"/>
              </a:rPr>
              <a:t>DOUTOR-AI · V1.0 ·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22815" y="649224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 i="0" spc="140">
                <a:solidFill>
                  <a:srgbClr val="4B5563"/>
                </a:solidFill>
                <a:latin typeface="JetBrains Mono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201168" cy="201168"/>
          </a:xfrm>
          <a:prstGeom prst="roundRect">
            <a:avLst>
              <a:gd name="adj" fmla="val 18000"/>
            </a:avLst>
          </a:prstGeom>
          <a:solidFill>
            <a:srgbClr val="007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2628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A1F2E"/>
                </a:solidFill>
                <a:latin typeface="Inter"/>
              </a:rPr>
              <a:t>Doutor-AI</a:t>
            </a:r>
            <a:r>
              <a:rPr sz="900" b="0" i="0">
                <a:solidFill>
                  <a:srgbClr val="9CA3AF"/>
                </a:solidFill>
                <a:latin typeface="Inter"/>
              </a:rPr>
              <a:t>  ·  </a:t>
            </a:r>
            <a:r>
              <a:rPr sz="750" b="0" i="0" spc="140">
                <a:solidFill>
                  <a:srgbClr val="9CA3AF"/>
                </a:solidFill>
                <a:latin typeface="JetBrains Mono"/>
              </a:rPr>
              <a:t>Apresentação Institucional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94015" y="47548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 i="0" spc="140">
                <a:solidFill>
                  <a:srgbClr val="9CA3AF"/>
                </a:solidFill>
                <a:latin typeface="JetBrains Mono"/>
              </a:rPr>
              <a:t>02 · PROBLEMA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749808"/>
            <a:ext cx="10911535" cy="700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160">
                <a:solidFill>
                  <a:srgbClr val="0071BC"/>
                </a:solidFill>
                <a:latin typeface="JetBrains Mono"/>
              </a:rPr>
              <a:t>▸  O PROBLEMA QUE RESOLVEMOS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10972800" cy="1554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 spc="-100">
                <a:solidFill>
                  <a:srgbClr val="1A1F2E"/>
                </a:solidFill>
                <a:latin typeface="Inter"/>
              </a:rPr>
              <a:t>Saúde opera no limite.</a:t>
            </a:r>
          </a:p>
          <a:p>
            <a:pPr algn="l">
              <a:lnSpc>
                <a:spcPct val="100000"/>
              </a:lnSpc>
            </a:pPr>
            <a:r>
              <a:rPr sz="3600" b="1" i="1" spc="-100">
                <a:solidFill>
                  <a:srgbClr val="0071BC"/>
                </a:solidFill>
                <a:latin typeface="Inter"/>
              </a:rPr>
              <a:t>Todos os dias.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611880"/>
            <a:ext cx="3545738" cy="1417320"/>
          </a:xfrm>
          <a:prstGeom prst="rect">
            <a:avLst/>
          </a:prstGeom>
          <a:solidFill>
            <a:srgbClr val="FFFFFF"/>
          </a:solidFill>
          <a:ln w="60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3776472"/>
            <a:ext cx="3216554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160">
                <a:solidFill>
                  <a:srgbClr val="0071BC"/>
                </a:solidFill>
                <a:latin typeface="JetBrains Mono"/>
              </a:rPr>
              <a:t>01 · DEMANDA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4032504"/>
            <a:ext cx="321655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spc="-40">
                <a:solidFill>
                  <a:srgbClr val="1A1F2E"/>
                </a:solidFill>
                <a:latin typeface="Inter"/>
              </a:rPr>
              <a:t>Volume e filas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434840"/>
            <a:ext cx="3216554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4B5563"/>
                </a:solidFill>
                <a:latin typeface="Inter"/>
              </a:rPr>
              <a:t>Alto volume de atendimentos e filas que excedem a capacidade instalada.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2978" y="3611880"/>
            <a:ext cx="3545738" cy="1417320"/>
          </a:xfrm>
          <a:prstGeom prst="rect">
            <a:avLst/>
          </a:prstGeom>
          <a:solidFill>
            <a:srgbClr val="FFFFFF"/>
          </a:solidFill>
          <a:ln w="60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7570" y="3776472"/>
            <a:ext cx="3216554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160">
                <a:solidFill>
                  <a:srgbClr val="0071BC"/>
                </a:solidFill>
                <a:latin typeface="JetBrains Mono"/>
              </a:rPr>
              <a:t>02 · PROCESSOS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7570" y="4032504"/>
            <a:ext cx="321655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spc="-40">
                <a:solidFill>
                  <a:srgbClr val="1A1F2E"/>
                </a:solidFill>
                <a:latin typeface="Inter"/>
              </a:rPr>
              <a:t>Manual e repetitivo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7570" y="4434840"/>
            <a:ext cx="3216554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4B5563"/>
                </a:solidFill>
                <a:latin typeface="Inter"/>
              </a:rPr>
              <a:t>Processos manuais, repetitivos e sem padronização entre unidades e equipes.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5876" y="3611880"/>
            <a:ext cx="3545738" cy="1417320"/>
          </a:xfrm>
          <a:prstGeom prst="rect">
            <a:avLst/>
          </a:prstGeom>
          <a:solidFill>
            <a:srgbClr val="FFFFFF"/>
          </a:solidFill>
          <a:ln w="60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70468" y="3776472"/>
            <a:ext cx="3216554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160">
                <a:solidFill>
                  <a:srgbClr val="0071BC"/>
                </a:solidFill>
                <a:latin typeface="JetBrains Mono"/>
              </a:rPr>
              <a:t>03 · DADOS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0468" y="4032504"/>
            <a:ext cx="321655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spc="-40">
                <a:solidFill>
                  <a:srgbClr val="1A1F2E"/>
                </a:solidFill>
                <a:latin typeface="Inter"/>
              </a:rPr>
              <a:t>Perdas entre etapas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70468" y="4434840"/>
            <a:ext cx="3216554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4B5563"/>
                </a:solidFill>
                <a:latin typeface="Inter"/>
              </a:rPr>
              <a:t>Informações clínicas que se perdem ao longo da jornada e prejudicam decisões.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193792"/>
            <a:ext cx="3545738" cy="1417320"/>
          </a:xfrm>
          <a:prstGeom prst="rect">
            <a:avLst/>
          </a:prstGeom>
          <a:solidFill>
            <a:srgbClr val="FFFFFF"/>
          </a:solidFill>
          <a:ln w="60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5358384"/>
            <a:ext cx="3216554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160">
                <a:solidFill>
                  <a:srgbClr val="0071BC"/>
                </a:solidFill>
                <a:latin typeface="JetBrains Mono"/>
              </a:rPr>
              <a:t>04 · EQUIPE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5614416"/>
            <a:ext cx="321655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spc="-40">
                <a:solidFill>
                  <a:srgbClr val="1A1F2E"/>
                </a:solidFill>
                <a:latin typeface="Inter"/>
              </a:rPr>
              <a:t>Sobrecarga clínica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6016752"/>
            <a:ext cx="3216554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4B5563"/>
                </a:solidFill>
                <a:latin typeface="Inter"/>
              </a:rPr>
              <a:t>Profissionais sobrecarregados em tarefas administrativas, com menos foco no paciente.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22978" y="5193792"/>
            <a:ext cx="3545738" cy="1417320"/>
          </a:xfrm>
          <a:prstGeom prst="rect">
            <a:avLst/>
          </a:prstGeom>
          <a:solidFill>
            <a:srgbClr val="FFFFFF"/>
          </a:solidFill>
          <a:ln w="60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7570" y="5358384"/>
            <a:ext cx="3216554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160">
                <a:solidFill>
                  <a:srgbClr val="0071BC"/>
                </a:solidFill>
                <a:latin typeface="JetBrains Mono"/>
              </a:rPr>
              <a:t>05 · JORNADA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7570" y="5614416"/>
            <a:ext cx="321655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spc="-40">
                <a:solidFill>
                  <a:srgbClr val="1A1F2E"/>
                </a:solidFill>
                <a:latin typeface="Inter"/>
              </a:rPr>
              <a:t>Acompanhamento frágil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7570" y="6016752"/>
            <a:ext cx="3216554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4B5563"/>
                </a:solidFill>
                <a:latin typeface="Inter"/>
              </a:rPr>
              <a:t>Dificuldade de acompanhar pacientes de forma ativa entre consultas e exames.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5876" y="5193792"/>
            <a:ext cx="3545738" cy="1417320"/>
          </a:xfrm>
          <a:prstGeom prst="rect">
            <a:avLst/>
          </a:prstGeom>
          <a:solidFill>
            <a:srgbClr val="FFFFFF"/>
          </a:solidFill>
          <a:ln w="60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70468" y="5358384"/>
            <a:ext cx="3216554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160">
                <a:solidFill>
                  <a:srgbClr val="0071BC"/>
                </a:solidFill>
                <a:latin typeface="JetBrains Mono"/>
              </a:rPr>
              <a:t>06 · NEGÓCIO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70468" y="5614416"/>
            <a:ext cx="321655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spc="-40">
                <a:solidFill>
                  <a:srgbClr val="1A1F2E"/>
                </a:solidFill>
                <a:latin typeface="Inter"/>
              </a:rPr>
              <a:t>Custo &amp; receita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70468" y="6016752"/>
            <a:ext cx="3216554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4B5563"/>
                </a:solidFill>
                <a:latin typeface="Inter"/>
              </a:rPr>
              <a:t>Ineficiências que impactam custo, receita, experiência e qualidade assistencial.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922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 spc="140">
                <a:solidFill>
                  <a:srgbClr val="9CA3AF"/>
                </a:solidFill>
                <a:latin typeface="JetBrains Mono"/>
              </a:rPr>
              <a:t>DOUTOR-AI · V1.0 ·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22815" y="649224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 i="0" spc="140">
                <a:solidFill>
                  <a:srgbClr val="4B5563"/>
                </a:solidFill>
                <a:latin typeface="JetBrains Mono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201168" cy="201168"/>
          </a:xfrm>
          <a:prstGeom prst="roundRect">
            <a:avLst>
              <a:gd name="adj" fmla="val 18000"/>
            </a:avLst>
          </a:prstGeom>
          <a:solidFill>
            <a:srgbClr val="007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2628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A1F2E"/>
                </a:solidFill>
                <a:latin typeface="Inter"/>
              </a:rPr>
              <a:t>Doutor-AI</a:t>
            </a:r>
            <a:r>
              <a:rPr sz="900" b="0" i="0">
                <a:solidFill>
                  <a:srgbClr val="9CA3AF"/>
                </a:solidFill>
                <a:latin typeface="Inter"/>
              </a:rPr>
              <a:t>  ·  </a:t>
            </a:r>
            <a:r>
              <a:rPr sz="750" b="0" i="0" spc="140">
                <a:solidFill>
                  <a:srgbClr val="9CA3AF"/>
                </a:solidFill>
                <a:latin typeface="JetBrains Mono"/>
              </a:rPr>
              <a:t>Apresentação Institucional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94015" y="47548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 i="0" spc="140">
                <a:solidFill>
                  <a:srgbClr val="9CA3AF"/>
                </a:solidFill>
                <a:latin typeface="JetBrains Mono"/>
              </a:rPr>
              <a:t>03 · PROPOSTA DE VALOR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749808"/>
            <a:ext cx="10911535" cy="700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160">
                <a:solidFill>
                  <a:srgbClr val="0071BC"/>
                </a:solidFill>
                <a:latin typeface="JetBrains Mono"/>
              </a:rPr>
              <a:t>▸  PROPOSTA DE VALOR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10972800" cy="1554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 spc="-100">
                <a:solidFill>
                  <a:srgbClr val="1A1F2E"/>
                </a:solidFill>
                <a:latin typeface="Inter"/>
              </a:rPr>
              <a:t>IA para dar </a:t>
            </a:r>
            <a:r>
              <a:rPr sz="3600" b="1" i="1" spc="-100">
                <a:solidFill>
                  <a:srgbClr val="0071BC"/>
                </a:solidFill>
                <a:latin typeface="Inter"/>
              </a:rPr>
              <a:t>escala</a:t>
            </a:r>
          </a:p>
          <a:p>
            <a:pPr algn="l">
              <a:lnSpc>
                <a:spcPct val="100000"/>
              </a:lnSpc>
            </a:pPr>
            <a:r>
              <a:rPr sz="3600" b="1" i="0" spc="-100">
                <a:solidFill>
                  <a:srgbClr val="1A1F2E"/>
                </a:solidFill>
                <a:latin typeface="Inter"/>
              </a:rPr>
              <a:t>sem perder qualidade.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4B5563"/>
                </a:solidFill>
                <a:latin typeface="Inter"/>
              </a:rPr>
              <a:t>A Doutor AI estrutura conversas, coleta dados, organiza informações clínicas, automatiza etapas operacionais e apoia profissionais </a:t>
            </a:r>
            <a:r>
              <a:rPr sz="1300" b="1" i="0">
                <a:solidFill>
                  <a:srgbClr val="1A1F2E"/>
                </a:solidFill>
                <a:latin typeface="Inter"/>
              </a:rPr>
              <a:t>em tempo real</a:t>
            </a:r>
            <a:r>
              <a:rPr sz="1300" b="0" i="0">
                <a:solidFill>
                  <a:srgbClr val="4B5563"/>
                </a:solidFill>
                <a:latin typeface="Inter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657600"/>
            <a:ext cx="5318607" cy="2697480"/>
          </a:xfrm>
          <a:prstGeom prst="rect">
            <a:avLst/>
          </a:prstGeom>
          <a:solidFill>
            <a:srgbClr val="FAFAFA"/>
          </a:solidFill>
          <a:ln w="60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886200"/>
            <a:ext cx="5318607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80">
                <a:solidFill>
                  <a:srgbClr val="4B5563"/>
                </a:solidFill>
                <a:latin typeface="JetBrains Mono"/>
              </a:rPr>
              <a:t>▸  ANTES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206240"/>
            <a:ext cx="4861407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4B5563"/>
                </a:solidFill>
                <a:latin typeface="Inter"/>
              </a:rPr>
              <a:t>Atendimento fragmentado entre canais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4572000"/>
            <a:ext cx="4861407" cy="600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590288"/>
            <a:ext cx="4861407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4B5563"/>
                </a:solidFill>
                <a:latin typeface="Inter"/>
              </a:rPr>
              <a:t>Coleta clínica manual e inconsistente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4956048"/>
            <a:ext cx="4861407" cy="600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974336"/>
            <a:ext cx="4861407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4B5563"/>
                </a:solidFill>
                <a:latin typeface="Inter"/>
              </a:rPr>
              <a:t>Baixa previsibilidade da jornada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5340096"/>
            <a:ext cx="4861407" cy="600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358384"/>
            <a:ext cx="4861407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4B5563"/>
                </a:solidFill>
                <a:latin typeface="Inter"/>
              </a:rPr>
              <a:t>Retrabalho entre etapas e sistemas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5724144"/>
            <a:ext cx="4861407" cy="600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742432"/>
            <a:ext cx="4861407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4B5563"/>
                </a:solidFill>
                <a:latin typeface="Inter"/>
              </a:rPr>
              <a:t>Decisões sem suporte estruturado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3007" y="3657600"/>
            <a:ext cx="5318607" cy="2697480"/>
          </a:xfrm>
          <a:prstGeom prst="rect">
            <a:avLst/>
          </a:prstGeom>
          <a:solidFill>
            <a:srgbClr val="EBF1F8"/>
          </a:solidFill>
          <a:ln w="6000">
            <a:solidFill>
              <a:srgbClr val="8FC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1607" y="3886200"/>
            <a:ext cx="5318607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80">
                <a:solidFill>
                  <a:srgbClr val="0071BC"/>
                </a:solidFill>
                <a:latin typeface="JetBrains Mono"/>
              </a:rPr>
              <a:t>▸  DEPOIS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1607" y="4206240"/>
            <a:ext cx="4861407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A1F2E"/>
                </a:solidFill>
                <a:latin typeface="Inter"/>
              </a:rPr>
              <a:t>Jornada estruturada</a:t>
            </a:r>
            <a:r>
              <a:rPr sz="1150" b="0" i="0">
                <a:solidFill>
                  <a:srgbClr val="1A1F2E"/>
                </a:solidFill>
                <a:latin typeface="Inter"/>
              </a:rPr>
              <a:t> e orquestrada por IA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61607" y="4572000"/>
            <a:ext cx="4861407" cy="6000"/>
          </a:xfrm>
          <a:prstGeom prst="rect">
            <a:avLst/>
          </a:prstGeom>
          <a:solidFill>
            <a:srgbClr val="8FC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1607" y="4590288"/>
            <a:ext cx="4861407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A1F2E"/>
                </a:solidFill>
                <a:latin typeface="Inter"/>
              </a:rPr>
              <a:t>Dados organizados</a:t>
            </a:r>
            <a:r>
              <a:rPr sz="1150" b="0" i="0">
                <a:solidFill>
                  <a:srgbClr val="1A1F2E"/>
                </a:solidFill>
                <a:latin typeface="Inter"/>
              </a:rPr>
              <a:t> e padronizados em tempo real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61607" y="4956048"/>
            <a:ext cx="4861407" cy="6000"/>
          </a:xfrm>
          <a:prstGeom prst="rect">
            <a:avLst/>
          </a:prstGeom>
          <a:solidFill>
            <a:srgbClr val="8FC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61607" y="4974336"/>
            <a:ext cx="4861407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A1F2E"/>
                </a:solidFill>
                <a:latin typeface="Inter"/>
              </a:rPr>
              <a:t>Protocolos assistidos</a:t>
            </a:r>
            <a:r>
              <a:rPr sz="1150" b="0" i="0">
                <a:solidFill>
                  <a:srgbClr val="1A1F2E"/>
                </a:solidFill>
                <a:latin typeface="Inter"/>
              </a:rPr>
              <a:t> e alertas inteligentes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61607" y="5340096"/>
            <a:ext cx="4861407" cy="6000"/>
          </a:xfrm>
          <a:prstGeom prst="rect">
            <a:avLst/>
          </a:prstGeom>
          <a:solidFill>
            <a:srgbClr val="8FC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1607" y="5358384"/>
            <a:ext cx="4861407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A1F2E"/>
                </a:solidFill>
                <a:latin typeface="Inter"/>
              </a:rPr>
              <a:t>Equipe mais produtiva</a:t>
            </a:r>
            <a:r>
              <a:rPr sz="1150" b="0" i="0">
                <a:solidFill>
                  <a:srgbClr val="1A1F2E"/>
                </a:solidFill>
                <a:latin typeface="Inter"/>
              </a:rPr>
              <a:t> e focada no paciente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61607" y="5724144"/>
            <a:ext cx="4861407" cy="6000"/>
          </a:xfrm>
          <a:prstGeom prst="rect">
            <a:avLst/>
          </a:prstGeom>
          <a:solidFill>
            <a:srgbClr val="8FC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61607" y="5742432"/>
            <a:ext cx="4861407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A1F2E"/>
                </a:solidFill>
                <a:latin typeface="Inter"/>
              </a:rPr>
              <a:t>Visibilidade ponta-a-ponta</a:t>
            </a:r>
            <a:r>
              <a:rPr sz="1150" b="0" i="0">
                <a:solidFill>
                  <a:srgbClr val="1A1F2E"/>
                </a:solidFill>
                <a:latin typeface="Inter"/>
              </a:rPr>
              <a:t> da operação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922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 spc="140">
                <a:solidFill>
                  <a:srgbClr val="9CA3AF"/>
                </a:solidFill>
                <a:latin typeface="JetBrains Mono"/>
              </a:rPr>
              <a:t>DOUTOR-AI · V1.0 ·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22815" y="649224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 i="0" spc="140">
                <a:solidFill>
                  <a:srgbClr val="4B5563"/>
                </a:solidFill>
                <a:latin typeface="JetBrains Mono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201168" cy="201168"/>
          </a:xfrm>
          <a:prstGeom prst="roundRect">
            <a:avLst>
              <a:gd name="adj" fmla="val 18000"/>
            </a:avLst>
          </a:prstGeom>
          <a:solidFill>
            <a:srgbClr val="007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2628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A1F2E"/>
                </a:solidFill>
                <a:latin typeface="Inter"/>
              </a:rPr>
              <a:t>Doutor-AI</a:t>
            </a:r>
            <a:r>
              <a:rPr sz="900" b="0" i="0">
                <a:solidFill>
                  <a:srgbClr val="9CA3AF"/>
                </a:solidFill>
                <a:latin typeface="Inter"/>
              </a:rPr>
              <a:t>  ·  </a:t>
            </a:r>
            <a:r>
              <a:rPr sz="750" b="0" i="0" spc="140">
                <a:solidFill>
                  <a:srgbClr val="9CA3AF"/>
                </a:solidFill>
                <a:latin typeface="JetBrains Mono"/>
              </a:rPr>
              <a:t>Apresentação Institucional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94015" y="47548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 i="0" spc="140">
                <a:solidFill>
                  <a:srgbClr val="9CA3AF"/>
                </a:solidFill>
                <a:latin typeface="JetBrains Mono"/>
              </a:rPr>
              <a:t>04 · CAPACIDADES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749808"/>
            <a:ext cx="10911535" cy="700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160">
                <a:solidFill>
                  <a:srgbClr val="0071BC"/>
                </a:solidFill>
                <a:latin typeface="JetBrains Mono"/>
              </a:rPr>
              <a:t>▸  O QUE A PLATAFORMA FAZ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1143000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 spc="-100">
                <a:solidFill>
                  <a:srgbClr val="1A1F2E"/>
                </a:solidFill>
                <a:latin typeface="Inter"/>
              </a:rPr>
              <a:t>Capacidades aplicadas a </a:t>
            </a:r>
            <a:r>
              <a:rPr sz="3400" b="1" i="1" spc="-100">
                <a:solidFill>
                  <a:srgbClr val="0071BC"/>
                </a:solidFill>
                <a:latin typeface="Inter"/>
              </a:rPr>
              <a:t>fluxos clínicos reais.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743200"/>
            <a:ext cx="2636443" cy="1143000"/>
          </a:xfrm>
          <a:prstGeom prst="rect">
            <a:avLst/>
          </a:prstGeom>
          <a:solidFill>
            <a:srgbClr val="FFFFFF"/>
          </a:solidFill>
          <a:ln w="60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880360"/>
            <a:ext cx="2362123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-30">
                <a:solidFill>
                  <a:srgbClr val="1A1F2E"/>
                </a:solidFill>
                <a:latin typeface="Inter"/>
              </a:rPr>
              <a:t>Triagem inteligente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91840"/>
            <a:ext cx="2362123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4B5563"/>
                </a:solidFill>
                <a:latin typeface="Inter"/>
              </a:rPr>
              <a:t>Por texto, voz ou canais digitais — com priorização clínica.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95395" y="2743200"/>
            <a:ext cx="2636443" cy="1143000"/>
          </a:xfrm>
          <a:prstGeom prst="rect">
            <a:avLst/>
          </a:prstGeom>
          <a:solidFill>
            <a:srgbClr val="FFFFFF"/>
          </a:solidFill>
          <a:ln w="60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32555" y="2880360"/>
            <a:ext cx="2362123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-30">
                <a:solidFill>
                  <a:srgbClr val="1A1F2E"/>
                </a:solidFill>
                <a:latin typeface="Inter"/>
              </a:rPr>
              <a:t>Coleta clínica estruturada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2555" y="3291840"/>
            <a:ext cx="2362123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4B5563"/>
                </a:solidFill>
                <a:latin typeface="Inter"/>
              </a:rPr>
              <a:t>Dados organizados desde o primeiro contato com o paciente.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50711" y="2743200"/>
            <a:ext cx="2636443" cy="1143000"/>
          </a:xfrm>
          <a:prstGeom prst="rect">
            <a:avLst/>
          </a:prstGeom>
          <a:solidFill>
            <a:srgbClr val="FFFFFF"/>
          </a:solidFill>
          <a:ln w="60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7871" y="2880360"/>
            <a:ext cx="2362123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-30">
                <a:solidFill>
                  <a:srgbClr val="1A1F2E"/>
                </a:solidFill>
                <a:latin typeface="Inter"/>
              </a:rPr>
              <a:t>Classificação de risco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7871" y="3291840"/>
            <a:ext cx="2362123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4B5563"/>
                </a:solidFill>
                <a:latin typeface="Inter"/>
              </a:rPr>
              <a:t>Direcionamento assistencial baseado em protocolos.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06027" y="2743200"/>
            <a:ext cx="2636443" cy="1143000"/>
          </a:xfrm>
          <a:prstGeom prst="rect">
            <a:avLst/>
          </a:prstGeom>
          <a:solidFill>
            <a:srgbClr val="FFFFFF"/>
          </a:solidFill>
          <a:ln w="60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43187" y="2880360"/>
            <a:ext cx="2362123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-30">
                <a:solidFill>
                  <a:srgbClr val="1A1F2E"/>
                </a:solidFill>
                <a:latin typeface="Inter"/>
              </a:rPr>
              <a:t>Transcrição &amp; sumarização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187" y="3291840"/>
            <a:ext cx="2362123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4B5563"/>
                </a:solidFill>
                <a:latin typeface="Inter"/>
              </a:rPr>
              <a:t>Registro automático de atendimentos com resumo clínico.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023360"/>
            <a:ext cx="2636443" cy="1143000"/>
          </a:xfrm>
          <a:prstGeom prst="rect">
            <a:avLst/>
          </a:prstGeom>
          <a:solidFill>
            <a:srgbClr val="FFFFFF"/>
          </a:solidFill>
          <a:ln w="60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160520"/>
            <a:ext cx="2362123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-30">
                <a:solidFill>
                  <a:srgbClr val="1A1F2E"/>
                </a:solidFill>
                <a:latin typeface="Inter"/>
              </a:rPr>
              <a:t>Copiloto clínico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572000"/>
            <a:ext cx="2362123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4B5563"/>
                </a:solidFill>
                <a:latin typeface="Inter"/>
              </a:rPr>
              <a:t>Suporte em tempo real ao raciocínio e à conduta.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95395" y="4023360"/>
            <a:ext cx="2636443" cy="1143000"/>
          </a:xfrm>
          <a:prstGeom prst="rect">
            <a:avLst/>
          </a:prstGeom>
          <a:solidFill>
            <a:srgbClr val="FFFFFF"/>
          </a:solidFill>
          <a:ln w="60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32555" y="4160520"/>
            <a:ext cx="2362123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-30">
                <a:solidFill>
                  <a:srgbClr val="1A1F2E"/>
                </a:solidFill>
                <a:latin typeface="Inter"/>
              </a:rPr>
              <a:t>Integração com prontuário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2555" y="4572000"/>
            <a:ext cx="2362123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4B5563"/>
                </a:solidFill>
                <a:latin typeface="Inter"/>
              </a:rPr>
              <a:t>Conexão com EHR e sistemas hospitalares existentes.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50711" y="4023360"/>
            <a:ext cx="2636443" cy="1143000"/>
          </a:xfrm>
          <a:prstGeom prst="rect">
            <a:avLst/>
          </a:prstGeom>
          <a:solidFill>
            <a:srgbClr val="FFFFFF"/>
          </a:solidFill>
          <a:ln w="60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87871" y="4160520"/>
            <a:ext cx="2362123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-30">
                <a:solidFill>
                  <a:srgbClr val="1A1F2E"/>
                </a:solidFill>
                <a:latin typeface="Inter"/>
              </a:rPr>
              <a:t>Alertas &amp; protocolos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87871" y="4572000"/>
            <a:ext cx="2362123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4B5563"/>
                </a:solidFill>
                <a:latin typeface="Inter"/>
              </a:rPr>
              <a:t>Apoio baseado em diretrizes institucionais e clínicas.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06027" y="4023360"/>
            <a:ext cx="2636443" cy="1143000"/>
          </a:xfrm>
          <a:prstGeom prst="rect">
            <a:avLst/>
          </a:prstGeom>
          <a:solidFill>
            <a:srgbClr val="FFFFFF"/>
          </a:solidFill>
          <a:ln w="60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43187" y="4160520"/>
            <a:ext cx="2362123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-30">
                <a:solidFill>
                  <a:srgbClr val="1A1F2E"/>
                </a:solidFill>
                <a:latin typeface="Inter"/>
              </a:rPr>
              <a:t>Navegação de pacientes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43187" y="4572000"/>
            <a:ext cx="2362123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4B5563"/>
                </a:solidFill>
                <a:latin typeface="Inter"/>
              </a:rPr>
              <a:t>Acompanhamento ativo da jornada entre etapas.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394960"/>
            <a:ext cx="10911535" cy="713232"/>
          </a:xfrm>
          <a:prstGeom prst="rect">
            <a:avLst/>
          </a:prstGeom>
          <a:solidFill>
            <a:srgbClr val="EBF1F8"/>
          </a:solidFill>
          <a:ln w="6000">
            <a:solidFill>
              <a:srgbClr val="EBF1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" y="5394960"/>
            <a:ext cx="28000" cy="713232"/>
          </a:xfrm>
          <a:prstGeom prst="rect">
            <a:avLst/>
          </a:prstGeom>
          <a:solidFill>
            <a:srgbClr val="007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5504688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spc="180">
                <a:solidFill>
                  <a:srgbClr val="0071BC"/>
                </a:solidFill>
                <a:latin typeface="JetBrains Mono"/>
              </a:rPr>
              <a:t>▸  MULTIMODAL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5724144"/>
            <a:ext cx="1045433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A1F2E"/>
                </a:solidFill>
                <a:latin typeface="Inter"/>
              </a:rPr>
              <a:t>Capacidades operam de forma combinada em </a:t>
            </a:r>
            <a:r>
              <a:rPr sz="1050" b="1" i="0">
                <a:solidFill>
                  <a:srgbClr val="1A1F2E"/>
                </a:solidFill>
                <a:latin typeface="Inter"/>
              </a:rPr>
              <a:t>texto, voz e dados estruturados</a:t>
            </a:r>
            <a:r>
              <a:rPr sz="1050" b="0" i="0">
                <a:solidFill>
                  <a:srgbClr val="1A1F2E"/>
                </a:solidFill>
                <a:latin typeface="Inter"/>
              </a:rPr>
              <a:t>, sempre com validação humana nos pontos críticos da jornada.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922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 spc="140">
                <a:solidFill>
                  <a:srgbClr val="9CA3AF"/>
                </a:solidFill>
                <a:latin typeface="JetBrains Mono"/>
              </a:rPr>
              <a:t>DOUTOR-AI · V1.0 ·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22815" y="649224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 i="0" spc="140">
                <a:solidFill>
                  <a:srgbClr val="4B5563"/>
                </a:solidFill>
                <a:latin typeface="JetBrains Mono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201168" cy="201168"/>
          </a:xfrm>
          <a:prstGeom prst="roundRect">
            <a:avLst>
              <a:gd name="adj" fmla="val 18000"/>
            </a:avLst>
          </a:prstGeom>
          <a:solidFill>
            <a:srgbClr val="007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2628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A1F2E"/>
                </a:solidFill>
                <a:latin typeface="Inter"/>
              </a:rPr>
              <a:t>Doutor-AI</a:t>
            </a:r>
            <a:r>
              <a:rPr sz="900" b="0" i="0">
                <a:solidFill>
                  <a:srgbClr val="9CA3AF"/>
                </a:solidFill>
                <a:latin typeface="Inter"/>
              </a:rPr>
              <a:t>  ·  </a:t>
            </a:r>
            <a:r>
              <a:rPr sz="750" b="0" i="0" spc="140">
                <a:solidFill>
                  <a:srgbClr val="9CA3AF"/>
                </a:solidFill>
                <a:latin typeface="JetBrains Mono"/>
              </a:rPr>
              <a:t>Apresentação Institucional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94015" y="47548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 i="0" spc="140">
                <a:solidFill>
                  <a:srgbClr val="9CA3AF"/>
                </a:solidFill>
                <a:latin typeface="JetBrains Mono"/>
              </a:rPr>
              <a:t>05 · JORNADAS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749808"/>
            <a:ext cx="10911535" cy="700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160">
                <a:solidFill>
                  <a:srgbClr val="0071BC"/>
                </a:solidFill>
                <a:latin typeface="JetBrains Mono"/>
              </a:rPr>
              <a:t>▸  JORNADAS ATENDIDAS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1097280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 spc="-100">
                <a:solidFill>
                  <a:srgbClr val="1A1F2E"/>
                </a:solidFill>
                <a:latin typeface="Inter"/>
              </a:rPr>
              <a:t>Onde a Doutor AI </a:t>
            </a:r>
            <a:r>
              <a:rPr sz="3600" b="1" i="1" spc="-100">
                <a:solidFill>
                  <a:srgbClr val="0071BC"/>
                </a:solidFill>
                <a:latin typeface="Inter"/>
              </a:rPr>
              <a:t>atua.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834640"/>
            <a:ext cx="2636443" cy="1051560"/>
          </a:xfrm>
          <a:prstGeom prst="rect">
            <a:avLst/>
          </a:prstGeom>
          <a:solidFill>
            <a:srgbClr val="FFFFFF"/>
          </a:solidFill>
          <a:ln w="60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980944"/>
            <a:ext cx="2343835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160">
                <a:solidFill>
                  <a:srgbClr val="0071BC"/>
                </a:solidFill>
                <a:latin typeface="JetBrains Mono"/>
              </a:rPr>
              <a:t>01 · PA / 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3255264"/>
            <a:ext cx="2343835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-30">
                <a:solidFill>
                  <a:srgbClr val="1A1F2E"/>
                </a:solidFill>
                <a:latin typeface="Inter"/>
              </a:rPr>
              <a:t>Pronto atendimento e pronto-socorro digital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95395" y="2834640"/>
            <a:ext cx="2636443" cy="1051560"/>
          </a:xfrm>
          <a:prstGeom prst="rect">
            <a:avLst/>
          </a:prstGeom>
          <a:solidFill>
            <a:srgbClr val="FFFFFF"/>
          </a:solidFill>
          <a:ln w="60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41699" y="2980944"/>
            <a:ext cx="2343835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160">
                <a:solidFill>
                  <a:srgbClr val="0071BC"/>
                </a:solidFill>
                <a:latin typeface="JetBrains Mono"/>
              </a:rPr>
              <a:t>02 · TELE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1699" y="3255264"/>
            <a:ext cx="2343835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-30">
                <a:solidFill>
                  <a:srgbClr val="1A1F2E"/>
                </a:solidFill>
                <a:latin typeface="Inter"/>
              </a:rPr>
              <a:t>Telemedicina e atendimento à distância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50711" y="2834640"/>
            <a:ext cx="2636443" cy="1051560"/>
          </a:xfrm>
          <a:prstGeom prst="rect">
            <a:avLst/>
          </a:prstGeom>
          <a:solidFill>
            <a:srgbClr val="FFFFFF"/>
          </a:solidFill>
          <a:ln w="60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7015" y="2980944"/>
            <a:ext cx="2343835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160">
                <a:solidFill>
                  <a:srgbClr val="0071BC"/>
                </a:solidFill>
                <a:latin typeface="JetBrains Mono"/>
              </a:rPr>
              <a:t>03 · PRÉ-CONSULTA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7015" y="3255264"/>
            <a:ext cx="2343835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-30">
                <a:solidFill>
                  <a:srgbClr val="1A1F2E"/>
                </a:solidFill>
                <a:latin typeface="Inter"/>
              </a:rPr>
              <a:t>Triagem e coleta antes da consulta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06027" y="2834640"/>
            <a:ext cx="2636443" cy="1051560"/>
          </a:xfrm>
          <a:prstGeom prst="rect">
            <a:avLst/>
          </a:prstGeom>
          <a:solidFill>
            <a:srgbClr val="FFFFFF"/>
          </a:solidFill>
          <a:ln w="60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331" y="2980944"/>
            <a:ext cx="2343835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160">
                <a:solidFill>
                  <a:srgbClr val="0071BC"/>
                </a:solidFill>
                <a:latin typeface="JetBrains Mono"/>
              </a:rPr>
              <a:t>04 · PÓS-CONSULTA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331" y="3255264"/>
            <a:ext cx="2343835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-30">
                <a:solidFill>
                  <a:srgbClr val="1A1F2E"/>
                </a:solidFill>
                <a:latin typeface="Inter"/>
              </a:rPr>
              <a:t>Checkout médico e orientação pós-atendimento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050792"/>
            <a:ext cx="2636443" cy="1051560"/>
          </a:xfrm>
          <a:prstGeom prst="rect">
            <a:avLst/>
          </a:prstGeom>
          <a:solidFill>
            <a:srgbClr val="FFFFFF"/>
          </a:solidFill>
          <a:ln w="60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4197096"/>
            <a:ext cx="2343835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160">
                <a:solidFill>
                  <a:srgbClr val="0071BC"/>
                </a:solidFill>
                <a:latin typeface="JetBrains Mono"/>
              </a:rPr>
              <a:t>05 · CRÔNICOS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4471416"/>
            <a:ext cx="2343835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-30">
                <a:solidFill>
                  <a:srgbClr val="1A1F2E"/>
                </a:solidFill>
                <a:latin typeface="Inter"/>
              </a:rPr>
              <a:t>Gestão e acompanhamento de pacientes crônicos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95395" y="4050792"/>
            <a:ext cx="2636443" cy="1051560"/>
          </a:xfrm>
          <a:prstGeom prst="rect">
            <a:avLst/>
          </a:prstGeom>
          <a:solidFill>
            <a:srgbClr val="FFFFFF"/>
          </a:solidFill>
          <a:ln w="60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41699" y="4197096"/>
            <a:ext cx="2343835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160">
                <a:solidFill>
                  <a:srgbClr val="0071BC"/>
                </a:solidFill>
                <a:latin typeface="JetBrains Mono"/>
              </a:rPr>
              <a:t>06 · FATURAMENTO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41699" y="4471416"/>
            <a:ext cx="2343835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-30">
                <a:solidFill>
                  <a:srgbClr val="1A1F2E"/>
                </a:solidFill>
                <a:latin typeface="Inter"/>
              </a:rPr>
              <a:t>Apoio a glosas e pertinência clínica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50711" y="4050792"/>
            <a:ext cx="2636443" cy="1051560"/>
          </a:xfrm>
          <a:prstGeom prst="rect">
            <a:avLst/>
          </a:prstGeom>
          <a:solidFill>
            <a:srgbClr val="FFFFFF"/>
          </a:solidFill>
          <a:ln w="60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7015" y="4197096"/>
            <a:ext cx="2343835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160">
                <a:solidFill>
                  <a:srgbClr val="0071BC"/>
                </a:solidFill>
                <a:latin typeface="JetBrains Mono"/>
              </a:rPr>
              <a:t>07 · REGISTROS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97015" y="4471416"/>
            <a:ext cx="2343835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-30">
                <a:solidFill>
                  <a:srgbClr val="1A1F2E"/>
                </a:solidFill>
                <a:latin typeface="Inter"/>
              </a:rPr>
              <a:t>Automação de documentação clínica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06027" y="4050792"/>
            <a:ext cx="2636443" cy="1051560"/>
          </a:xfrm>
          <a:prstGeom prst="rect">
            <a:avLst/>
          </a:prstGeom>
          <a:solidFill>
            <a:srgbClr val="FFFFFF"/>
          </a:solidFill>
          <a:ln w="60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331" y="4197096"/>
            <a:ext cx="2343835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160">
                <a:solidFill>
                  <a:srgbClr val="0071BC"/>
                </a:solidFill>
                <a:latin typeface="JetBrains Mono"/>
              </a:rPr>
              <a:t>08 · CANAIS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331" y="4471416"/>
            <a:ext cx="2343835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-30">
                <a:solidFill>
                  <a:srgbClr val="1A1F2E"/>
                </a:solidFill>
                <a:latin typeface="Inter"/>
              </a:rPr>
              <a:t>Atendimento via canais digitais e mensageria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394960"/>
            <a:ext cx="10911535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4B5563"/>
                </a:solidFill>
                <a:latin typeface="Inter"/>
              </a:rPr>
              <a:t>Cada jornada pode ser implementada de forma independente ou combinada, </a:t>
            </a:r>
            <a:r>
              <a:rPr sz="1050" b="1" i="0">
                <a:solidFill>
                  <a:srgbClr val="1A1F2E"/>
                </a:solidFill>
                <a:latin typeface="Inter"/>
              </a:rPr>
              <a:t>iniciando por uma frente de alto impacto</a:t>
            </a:r>
            <a:r>
              <a:rPr sz="1050" b="0" i="0">
                <a:solidFill>
                  <a:srgbClr val="4B5563"/>
                </a:solidFill>
                <a:latin typeface="Inter"/>
              </a:rPr>
              <a:t> e expandindo conforme a maturidade da operação.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922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 spc="140">
                <a:solidFill>
                  <a:srgbClr val="9CA3AF"/>
                </a:solidFill>
                <a:latin typeface="JetBrains Mono"/>
              </a:rPr>
              <a:t>DOUTOR-AI · V1.0 ·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2815" y="649224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 i="0" spc="140">
                <a:solidFill>
                  <a:srgbClr val="4B5563"/>
                </a:solidFill>
                <a:latin typeface="JetBrains Mono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201168" cy="201168"/>
          </a:xfrm>
          <a:prstGeom prst="roundRect">
            <a:avLst>
              <a:gd name="adj" fmla="val 18000"/>
            </a:avLst>
          </a:prstGeom>
          <a:solidFill>
            <a:srgbClr val="007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2628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A1F2E"/>
                </a:solidFill>
                <a:latin typeface="Inter"/>
              </a:rPr>
              <a:t>Doutor-AI</a:t>
            </a:r>
            <a:r>
              <a:rPr sz="900" b="0" i="0">
                <a:solidFill>
                  <a:srgbClr val="9CA3AF"/>
                </a:solidFill>
                <a:latin typeface="Inter"/>
              </a:rPr>
              <a:t>  ·  </a:t>
            </a:r>
            <a:r>
              <a:rPr sz="750" b="0" i="0" spc="140">
                <a:solidFill>
                  <a:srgbClr val="9CA3AF"/>
                </a:solidFill>
                <a:latin typeface="JetBrains Mono"/>
              </a:rPr>
              <a:t>Apresentação Institucional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94015" y="47548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 i="0" spc="140">
                <a:solidFill>
                  <a:srgbClr val="9CA3AF"/>
                </a:solidFill>
                <a:latin typeface="JetBrains Mono"/>
              </a:rPr>
              <a:t>06 · CLIENTES &amp; PERFIS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749808"/>
            <a:ext cx="10911535" cy="700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160">
                <a:solidFill>
                  <a:srgbClr val="0071BC"/>
                </a:solidFill>
                <a:latin typeface="JetBrains Mono"/>
              </a:rPr>
              <a:t>▸  CLIENTES &amp; PERFIS DE CLIENTE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1097280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 spc="-100">
                <a:solidFill>
                  <a:srgbClr val="1A1F2E"/>
                </a:solidFill>
                <a:latin typeface="Inter"/>
              </a:rPr>
              <a:t>Para quem </a:t>
            </a:r>
            <a:r>
              <a:rPr sz="3600" b="1" i="1" spc="-100">
                <a:solidFill>
                  <a:srgbClr val="0071BC"/>
                </a:solidFill>
                <a:latin typeface="Inter"/>
              </a:rPr>
              <a:t>construímos.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spc="160">
                <a:solidFill>
                  <a:srgbClr val="0071BC"/>
                </a:solidFill>
                <a:latin typeface="JetBrains Mono"/>
              </a:rPr>
              <a:t>▸  SEGMENTOS ATENDIDOS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880360"/>
            <a:ext cx="2659303" cy="457200"/>
          </a:xfrm>
          <a:prstGeom prst="rect">
            <a:avLst/>
          </a:prstGeom>
          <a:solidFill>
            <a:srgbClr val="FAFAFA"/>
          </a:solidFill>
          <a:ln w="60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880360"/>
            <a:ext cx="2330119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-20">
                <a:solidFill>
                  <a:srgbClr val="1A1F2E"/>
                </a:solidFill>
                <a:latin typeface="Inter"/>
              </a:rPr>
              <a:t>Hospitais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90823" y="2880360"/>
            <a:ext cx="2659303" cy="457200"/>
          </a:xfrm>
          <a:prstGeom prst="rect">
            <a:avLst/>
          </a:prstGeom>
          <a:solidFill>
            <a:srgbClr val="FAFAFA"/>
          </a:solidFill>
          <a:ln w="60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55415" y="2880360"/>
            <a:ext cx="2330119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-20">
                <a:solidFill>
                  <a:srgbClr val="1A1F2E"/>
                </a:solidFill>
                <a:latin typeface="Inter"/>
              </a:rPr>
              <a:t>Redes de saúde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1567" y="2880360"/>
            <a:ext cx="2659303" cy="457200"/>
          </a:xfrm>
          <a:prstGeom prst="rect">
            <a:avLst/>
          </a:prstGeom>
          <a:solidFill>
            <a:srgbClr val="FAFAFA"/>
          </a:solidFill>
          <a:ln w="60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6159" y="2880360"/>
            <a:ext cx="2330119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-20">
                <a:solidFill>
                  <a:srgbClr val="1A1F2E"/>
                </a:solidFill>
                <a:latin typeface="Inter"/>
              </a:rPr>
              <a:t>Operadoras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92311" y="2880360"/>
            <a:ext cx="2659303" cy="457200"/>
          </a:xfrm>
          <a:prstGeom prst="rect">
            <a:avLst/>
          </a:prstGeom>
          <a:solidFill>
            <a:srgbClr val="FAFAFA"/>
          </a:solidFill>
          <a:ln w="60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6903" y="2880360"/>
            <a:ext cx="2330119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-20">
                <a:solidFill>
                  <a:srgbClr val="1A1F2E"/>
                </a:solidFill>
                <a:latin typeface="Inter"/>
              </a:rPr>
              <a:t>Clínicas &amp; grupos médicos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429000"/>
            <a:ext cx="2659303" cy="457200"/>
          </a:xfrm>
          <a:prstGeom prst="rect">
            <a:avLst/>
          </a:prstGeom>
          <a:solidFill>
            <a:srgbClr val="FAFAFA"/>
          </a:solidFill>
          <a:ln w="60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3429000"/>
            <a:ext cx="2330119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-20">
                <a:solidFill>
                  <a:srgbClr val="1A1F2E"/>
                </a:solidFill>
                <a:latin typeface="Inter"/>
              </a:rPr>
              <a:t>Plataformas de telemedicina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90823" y="3429000"/>
            <a:ext cx="2659303" cy="457200"/>
          </a:xfrm>
          <a:prstGeom prst="rect">
            <a:avLst/>
          </a:prstGeom>
          <a:solidFill>
            <a:srgbClr val="FAFAFA"/>
          </a:solidFill>
          <a:ln w="60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55415" y="3429000"/>
            <a:ext cx="2330119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-20">
                <a:solidFill>
                  <a:srgbClr val="1A1F2E"/>
                </a:solidFill>
                <a:latin typeface="Inter"/>
              </a:rPr>
              <a:t>Empresas de gestão assistencial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1567" y="3429000"/>
            <a:ext cx="2659303" cy="457200"/>
          </a:xfrm>
          <a:prstGeom prst="rect">
            <a:avLst/>
          </a:prstGeom>
          <a:solidFill>
            <a:srgbClr val="FAFAFA"/>
          </a:solidFill>
          <a:ln w="60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6159" y="3429000"/>
            <a:ext cx="2330119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-20">
                <a:solidFill>
                  <a:srgbClr val="1A1F2E"/>
                </a:solidFill>
                <a:latin typeface="Inter"/>
              </a:rPr>
              <a:t>Parceiros estratégicos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92311" y="3429000"/>
            <a:ext cx="2659303" cy="457200"/>
          </a:xfrm>
          <a:prstGeom prst="rect">
            <a:avLst/>
          </a:prstGeom>
          <a:solidFill>
            <a:srgbClr val="FAFAFA"/>
          </a:solidFill>
          <a:ln w="60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6903" y="3429000"/>
            <a:ext cx="2330119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-20">
                <a:solidFill>
                  <a:srgbClr val="1A1F2E"/>
                </a:solidFill>
                <a:latin typeface="Inter"/>
              </a:rPr>
              <a:t>Healthtechs &amp; integradores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160520"/>
            <a:ext cx="10058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spc="160">
                <a:solidFill>
                  <a:srgbClr val="0071BC"/>
                </a:solidFill>
                <a:latin typeface="JetBrains Mono"/>
              </a:rPr>
              <a:t>▸  REFERÊNCIAS E CONVERSAS COMERCIAIS A VALIDAR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434840"/>
            <a:ext cx="2659303" cy="640080"/>
          </a:xfrm>
          <a:prstGeom prst="rect">
            <a:avLst/>
          </a:prstGeom>
          <a:solidFill>
            <a:srgbClr val="FFFFFF"/>
          </a:solidFill>
          <a:ln w="6000">
            <a:solidFill>
              <a:srgbClr val="D1D5D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434840"/>
            <a:ext cx="2659303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 i="0">
                <a:solidFill>
                  <a:srgbClr val="9CA3AF"/>
                </a:solidFill>
                <a:latin typeface="Inter"/>
              </a:rPr>
              <a:t>[ Referência a validar 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90823" y="4434840"/>
            <a:ext cx="2659303" cy="640080"/>
          </a:xfrm>
          <a:prstGeom prst="rect">
            <a:avLst/>
          </a:prstGeom>
          <a:solidFill>
            <a:srgbClr val="FFFFFF"/>
          </a:solidFill>
          <a:ln w="6000">
            <a:solidFill>
              <a:srgbClr val="D1D5D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90823" y="4434840"/>
            <a:ext cx="2659303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 i="0">
                <a:solidFill>
                  <a:srgbClr val="9CA3AF"/>
                </a:solidFill>
                <a:latin typeface="Inter"/>
              </a:rPr>
              <a:t>[ Referência a validar 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41567" y="4434840"/>
            <a:ext cx="2659303" cy="640080"/>
          </a:xfrm>
          <a:prstGeom prst="rect">
            <a:avLst/>
          </a:prstGeom>
          <a:solidFill>
            <a:srgbClr val="FFFFFF"/>
          </a:solidFill>
          <a:ln w="6000">
            <a:solidFill>
              <a:srgbClr val="D1D5D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41567" y="4434840"/>
            <a:ext cx="2659303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 i="0">
                <a:solidFill>
                  <a:srgbClr val="9CA3AF"/>
                </a:solidFill>
                <a:latin typeface="Inter"/>
              </a:rPr>
              <a:t>[ POC / Conversa comercial 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92311" y="4434840"/>
            <a:ext cx="2659303" cy="640080"/>
          </a:xfrm>
          <a:prstGeom prst="rect">
            <a:avLst/>
          </a:prstGeom>
          <a:solidFill>
            <a:srgbClr val="FFFFFF"/>
          </a:solidFill>
          <a:ln w="6000">
            <a:solidFill>
              <a:srgbClr val="D1D5D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92311" y="4434840"/>
            <a:ext cx="2659303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 i="0">
                <a:solidFill>
                  <a:srgbClr val="9CA3AF"/>
                </a:solidFill>
                <a:latin typeface="Inter"/>
              </a:rPr>
              <a:t>[ POC / Conversa comercial 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257800"/>
            <a:ext cx="1091153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9CA3AF"/>
                </a:solidFill>
                <a:latin typeface="Inter"/>
              </a:rPr>
              <a:t>Espaço reservado para inserir logos e nomes após validação interna. Não tratar nenhuma instituição como cliente ativo sem confirmação explícita.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4922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 spc="140">
                <a:solidFill>
                  <a:srgbClr val="9CA3AF"/>
                </a:solidFill>
                <a:latin typeface="JetBrains Mono"/>
              </a:rPr>
              <a:t>DOUTOR-AI · V1.0 ·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22815" y="649224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 i="0" spc="140">
                <a:solidFill>
                  <a:srgbClr val="4B5563"/>
                </a:solidFill>
                <a:latin typeface="JetBrains Mono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201168" cy="201168"/>
          </a:xfrm>
          <a:prstGeom prst="roundRect">
            <a:avLst>
              <a:gd name="adj" fmla="val 18000"/>
            </a:avLst>
          </a:prstGeom>
          <a:solidFill>
            <a:srgbClr val="007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2628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A1F2E"/>
                </a:solidFill>
                <a:latin typeface="Inter"/>
              </a:rPr>
              <a:t>Doutor-AI</a:t>
            </a:r>
            <a:r>
              <a:rPr sz="900" b="0" i="0">
                <a:solidFill>
                  <a:srgbClr val="9CA3AF"/>
                </a:solidFill>
                <a:latin typeface="Inter"/>
              </a:rPr>
              <a:t>  ·  </a:t>
            </a:r>
            <a:r>
              <a:rPr sz="750" b="0" i="0" spc="140">
                <a:solidFill>
                  <a:srgbClr val="9CA3AF"/>
                </a:solidFill>
                <a:latin typeface="JetBrains Mono"/>
              </a:rPr>
              <a:t>Apresentação Institucional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94015" y="47548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 i="0" spc="140">
                <a:solidFill>
                  <a:srgbClr val="9CA3AF"/>
                </a:solidFill>
                <a:latin typeface="JetBrains Mono"/>
              </a:rPr>
              <a:t>07 · VALOR POR ÁREA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749808"/>
            <a:ext cx="10911535" cy="700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160">
                <a:solidFill>
                  <a:srgbClr val="0071BC"/>
                </a:solidFill>
                <a:latin typeface="JetBrains Mono"/>
              </a:rPr>
              <a:t>▸  VALOR POR PÚBLICO INTERNO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10972800" cy="1554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 spc="-100">
                <a:solidFill>
                  <a:srgbClr val="1A1F2E"/>
                </a:solidFill>
                <a:latin typeface="Inter"/>
              </a:rPr>
              <a:t>Uma plataforma.</a:t>
            </a:r>
          </a:p>
          <a:p>
            <a:pPr algn="l">
              <a:lnSpc>
                <a:spcPct val="100000"/>
              </a:lnSpc>
            </a:pPr>
            <a:r>
              <a:rPr sz="3600" b="1" i="1" spc="-100">
                <a:solidFill>
                  <a:srgbClr val="0071BC"/>
                </a:solidFill>
                <a:latin typeface="Inter"/>
              </a:rPr>
              <a:t>Quatro públicos.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657600"/>
            <a:ext cx="2625013" cy="2468880"/>
          </a:xfrm>
          <a:prstGeom prst="rect">
            <a:avLst/>
          </a:prstGeom>
          <a:solidFill>
            <a:srgbClr val="FFFFFF"/>
          </a:solidFill>
          <a:ln w="60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3904488"/>
            <a:ext cx="73152" cy="73152"/>
          </a:xfrm>
          <a:prstGeom prst="rect">
            <a:avLst/>
          </a:prstGeom>
          <a:solidFill>
            <a:srgbClr val="007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3822192"/>
            <a:ext cx="211294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-30">
                <a:solidFill>
                  <a:srgbClr val="1A1F2E"/>
                </a:solidFill>
                <a:latin typeface="Inter"/>
              </a:rPr>
              <a:t>Operações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206240"/>
            <a:ext cx="2259253" cy="600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343400"/>
            <a:ext cx="2259253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B5563"/>
                </a:solidFill>
                <a:latin typeface="Inter"/>
              </a:rPr>
              <a:t>Redução de retrabalho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00600"/>
            <a:ext cx="2259253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B5563"/>
                </a:solidFill>
                <a:latin typeface="Inter"/>
              </a:rPr>
              <a:t>Padronização do fluxo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257800"/>
            <a:ext cx="2259253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B5563"/>
                </a:solidFill>
                <a:latin typeface="Inter"/>
              </a:rPr>
              <a:t>Ganho de produtividade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2253" y="3657600"/>
            <a:ext cx="2625013" cy="2468880"/>
          </a:xfrm>
          <a:prstGeom prst="rect">
            <a:avLst/>
          </a:prstGeom>
          <a:solidFill>
            <a:srgbClr val="FFFFFF"/>
          </a:solidFill>
          <a:ln w="60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85133" y="3904488"/>
            <a:ext cx="73152" cy="73152"/>
          </a:xfrm>
          <a:prstGeom prst="rect">
            <a:avLst/>
          </a:prstGeom>
          <a:solidFill>
            <a:srgbClr val="007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31437" y="3822192"/>
            <a:ext cx="211294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-30">
                <a:solidFill>
                  <a:srgbClr val="1A1F2E"/>
                </a:solidFill>
                <a:latin typeface="Inter"/>
              </a:rPr>
              <a:t>Assistência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85133" y="4206240"/>
            <a:ext cx="2259253" cy="600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85133" y="4343400"/>
            <a:ext cx="2259253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B5563"/>
                </a:solidFill>
                <a:latin typeface="Inter"/>
              </a:rPr>
              <a:t>Melhor coleta de dados clínicos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85133" y="4800600"/>
            <a:ext cx="2259253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B5563"/>
                </a:solidFill>
                <a:latin typeface="Inter"/>
              </a:rPr>
              <a:t>Apoio à decisão em tempo real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85133" y="5257800"/>
            <a:ext cx="2259253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B5563"/>
                </a:solidFill>
                <a:latin typeface="Inter"/>
              </a:rPr>
              <a:t>Alertas e protocolos institucionais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64427" y="3657600"/>
            <a:ext cx="2625013" cy="2468880"/>
          </a:xfrm>
          <a:prstGeom prst="rect">
            <a:avLst/>
          </a:prstGeom>
          <a:solidFill>
            <a:srgbClr val="FFFFFF"/>
          </a:solidFill>
          <a:ln w="60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47307" y="3904488"/>
            <a:ext cx="73152" cy="73152"/>
          </a:xfrm>
          <a:prstGeom prst="rect">
            <a:avLst/>
          </a:prstGeom>
          <a:solidFill>
            <a:srgbClr val="007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3611" y="3822192"/>
            <a:ext cx="211294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-30">
                <a:solidFill>
                  <a:srgbClr val="1A1F2E"/>
                </a:solidFill>
                <a:latin typeface="Inter"/>
              </a:rPr>
              <a:t>Gestão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47307" y="4206240"/>
            <a:ext cx="2259253" cy="600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47307" y="4343400"/>
            <a:ext cx="2259253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B5563"/>
                </a:solidFill>
                <a:latin typeface="Inter"/>
              </a:rPr>
              <a:t>Mais visibilidade da operação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7307" y="4800600"/>
            <a:ext cx="2259253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B5563"/>
                </a:solidFill>
                <a:latin typeface="Inter"/>
              </a:rPr>
              <a:t>Indicadores da jornada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47307" y="5257800"/>
            <a:ext cx="2259253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B5563"/>
                </a:solidFill>
                <a:latin typeface="Inter"/>
              </a:rPr>
              <a:t>Eficiência operacional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26601" y="3657600"/>
            <a:ext cx="2625013" cy="2468880"/>
          </a:xfrm>
          <a:prstGeom prst="rect">
            <a:avLst/>
          </a:prstGeom>
          <a:solidFill>
            <a:srgbClr val="FFFFFF"/>
          </a:solidFill>
          <a:ln w="60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09481" y="3904488"/>
            <a:ext cx="73152" cy="73152"/>
          </a:xfrm>
          <a:prstGeom prst="rect">
            <a:avLst/>
          </a:prstGeom>
          <a:solidFill>
            <a:srgbClr val="007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55785" y="3822192"/>
            <a:ext cx="211294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-30">
                <a:solidFill>
                  <a:srgbClr val="1A1F2E"/>
                </a:solidFill>
                <a:latin typeface="Inter"/>
              </a:rPr>
              <a:t>Financeiro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09481" y="4206240"/>
            <a:ext cx="2259253" cy="600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9481" y="4343400"/>
            <a:ext cx="2259253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B5563"/>
                </a:solidFill>
                <a:latin typeface="Inter"/>
              </a:rPr>
              <a:t>Redução de perdas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09481" y="4800600"/>
            <a:ext cx="2259253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B5563"/>
                </a:solidFill>
                <a:latin typeface="Inter"/>
              </a:rPr>
              <a:t>Melhor documentação clínica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09481" y="5257800"/>
            <a:ext cx="2259253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B5563"/>
                </a:solidFill>
                <a:latin typeface="Inter"/>
              </a:rPr>
              <a:t>Apoio a glosas e pertinência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3093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4B5563"/>
                </a:solidFill>
                <a:latin typeface="Inter"/>
              </a:rPr>
              <a:t>O mesmo motor de IA gera ganhos </a:t>
            </a:r>
            <a:r>
              <a:rPr sz="1000" b="1" i="0">
                <a:solidFill>
                  <a:srgbClr val="1A1F2E"/>
                </a:solidFill>
                <a:latin typeface="Inter"/>
              </a:rPr>
              <a:t>simultâneos</a:t>
            </a:r>
            <a:r>
              <a:rPr sz="1000" b="0" i="0">
                <a:solidFill>
                  <a:srgbClr val="4B5563"/>
                </a:solidFill>
                <a:latin typeface="Inter"/>
              </a:rPr>
              <a:t> para áreas com objetivos distintos, o que facilita o caso de uso interno e a priorização da implantação.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4922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 spc="140">
                <a:solidFill>
                  <a:srgbClr val="9CA3AF"/>
                </a:solidFill>
                <a:latin typeface="JetBrains Mono"/>
              </a:rPr>
              <a:t>DOUTOR-AI · V1.0 ·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2815" y="649224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 i="0" spc="140">
                <a:solidFill>
                  <a:srgbClr val="4B5563"/>
                </a:solidFill>
                <a:latin typeface="JetBrains Mono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201168" cy="201168"/>
          </a:xfrm>
          <a:prstGeom prst="roundRect">
            <a:avLst>
              <a:gd name="adj" fmla="val 18000"/>
            </a:avLst>
          </a:prstGeom>
          <a:solidFill>
            <a:srgbClr val="007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2628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A1F2E"/>
                </a:solidFill>
                <a:latin typeface="Inter"/>
              </a:rPr>
              <a:t>Doutor-AI</a:t>
            </a:r>
            <a:r>
              <a:rPr sz="900" b="0" i="0">
                <a:solidFill>
                  <a:srgbClr val="9CA3AF"/>
                </a:solidFill>
                <a:latin typeface="Inter"/>
              </a:rPr>
              <a:t>  ·  </a:t>
            </a:r>
            <a:r>
              <a:rPr sz="750" b="0" i="0" spc="140">
                <a:solidFill>
                  <a:srgbClr val="9CA3AF"/>
                </a:solidFill>
                <a:latin typeface="JetBrains Mono"/>
              </a:rPr>
              <a:t>Apresentação Institucional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94015" y="47548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 i="0" spc="140">
                <a:solidFill>
                  <a:srgbClr val="9CA3AF"/>
                </a:solidFill>
                <a:latin typeface="JetBrains Mono"/>
              </a:rPr>
              <a:t>08 · DIFERENCIAIS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749808"/>
            <a:ext cx="10911535" cy="700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160">
                <a:solidFill>
                  <a:srgbClr val="0071BC"/>
                </a:solidFill>
                <a:latin typeface="JetBrains Mono"/>
              </a:rPr>
              <a:t>▸  DIFERENCIAIS DA DOUTOR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1097280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 spc="-100">
                <a:solidFill>
                  <a:srgbClr val="1A1F2E"/>
                </a:solidFill>
                <a:latin typeface="Inter"/>
              </a:rPr>
              <a:t>O que nos </a:t>
            </a:r>
            <a:r>
              <a:rPr sz="3600" b="1" i="1" spc="-100">
                <a:solidFill>
                  <a:srgbClr val="0071BC"/>
                </a:solidFill>
                <a:latin typeface="Inter"/>
              </a:rPr>
              <a:t>distingue.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51760"/>
            <a:ext cx="5364327" cy="777240"/>
          </a:xfrm>
          <a:prstGeom prst="rect">
            <a:avLst/>
          </a:prstGeom>
          <a:solidFill>
            <a:srgbClr val="FFFFFF"/>
          </a:solidFill>
          <a:ln w="60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5528" y="2807208"/>
            <a:ext cx="292608" cy="292608"/>
          </a:xfrm>
          <a:prstGeom prst="rect">
            <a:avLst/>
          </a:prstGeom>
          <a:solidFill>
            <a:srgbClr val="EB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80720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 i="0">
                <a:solidFill>
                  <a:srgbClr val="0071BC"/>
                </a:solidFill>
                <a:latin typeface="JetBrains Mono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2788920"/>
            <a:ext cx="470595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-30">
                <a:solidFill>
                  <a:srgbClr val="1A1F2E"/>
                </a:solidFill>
                <a:latin typeface="Inter"/>
              </a:rPr>
              <a:t>Especialização em saúde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3054096"/>
            <a:ext cx="470595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4B5563"/>
                </a:solidFill>
                <a:latin typeface="Inter"/>
              </a:rPr>
              <a:t>IA construída desde o início para fluxos clínicos, não adaptada de outros setores.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7287" y="2651760"/>
            <a:ext cx="5364327" cy="777240"/>
          </a:xfrm>
          <a:prstGeom prst="rect">
            <a:avLst/>
          </a:prstGeom>
          <a:solidFill>
            <a:srgbClr val="FFFFFF"/>
          </a:solidFill>
          <a:ln w="60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42735" y="2807208"/>
            <a:ext cx="292608" cy="292608"/>
          </a:xfrm>
          <a:prstGeom prst="rect">
            <a:avLst/>
          </a:prstGeom>
          <a:solidFill>
            <a:srgbClr val="EB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2735" y="280720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 i="0">
                <a:solidFill>
                  <a:srgbClr val="0071BC"/>
                </a:solidFill>
                <a:latin typeface="JetBrains Mono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54215" y="2788920"/>
            <a:ext cx="470595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-30">
                <a:solidFill>
                  <a:srgbClr val="1A1F2E"/>
                </a:solidFill>
                <a:latin typeface="Inter"/>
              </a:rPr>
              <a:t>Aplicada a fluxos reais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54215" y="3054096"/>
            <a:ext cx="470595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4B5563"/>
                </a:solidFill>
                <a:latin typeface="Inter"/>
              </a:rPr>
              <a:t>Modelagem com base em protocolos, jornadas e processos assistenciais concretos.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547872"/>
            <a:ext cx="5364327" cy="777240"/>
          </a:xfrm>
          <a:prstGeom prst="rect">
            <a:avLst/>
          </a:prstGeom>
          <a:solidFill>
            <a:srgbClr val="FFFFFF"/>
          </a:solidFill>
          <a:ln w="60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5528" y="3703320"/>
            <a:ext cx="292608" cy="292608"/>
          </a:xfrm>
          <a:prstGeom prst="rect">
            <a:avLst/>
          </a:prstGeom>
          <a:solidFill>
            <a:srgbClr val="EB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370332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 i="0">
                <a:solidFill>
                  <a:srgbClr val="0071BC"/>
                </a:solidFill>
                <a:latin typeface="JetBrains Mono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3685032"/>
            <a:ext cx="470595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-30">
                <a:solidFill>
                  <a:srgbClr val="1A1F2E"/>
                </a:solidFill>
                <a:latin typeface="Inter"/>
              </a:rPr>
              <a:t>Personalização por jornada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7008" y="3950208"/>
            <a:ext cx="470595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4B5563"/>
                </a:solidFill>
                <a:latin typeface="Inter"/>
              </a:rPr>
              <a:t>Configuração por protocolo, unidade e perfil de paciente.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87287" y="3547872"/>
            <a:ext cx="5364327" cy="777240"/>
          </a:xfrm>
          <a:prstGeom prst="rect">
            <a:avLst/>
          </a:prstGeom>
          <a:solidFill>
            <a:srgbClr val="FFFFFF"/>
          </a:solidFill>
          <a:ln w="60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42735" y="3703320"/>
            <a:ext cx="292608" cy="292608"/>
          </a:xfrm>
          <a:prstGeom prst="rect">
            <a:avLst/>
          </a:prstGeom>
          <a:solidFill>
            <a:srgbClr val="EB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42735" y="370332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 i="0">
                <a:solidFill>
                  <a:srgbClr val="0071BC"/>
                </a:solidFill>
                <a:latin typeface="JetBrains Mono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54215" y="3685032"/>
            <a:ext cx="470595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-30">
                <a:solidFill>
                  <a:srgbClr val="1A1F2E"/>
                </a:solidFill>
                <a:latin typeface="Inter"/>
              </a:rPr>
              <a:t>Integração com sistemas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54215" y="3950208"/>
            <a:ext cx="470595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4B5563"/>
                </a:solidFill>
                <a:latin typeface="Inter"/>
              </a:rPr>
              <a:t>Convive com prontuários, ERPs e ferramentas hospitalares existentes.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443984"/>
            <a:ext cx="5364327" cy="777240"/>
          </a:xfrm>
          <a:prstGeom prst="rect">
            <a:avLst/>
          </a:prstGeom>
          <a:solidFill>
            <a:srgbClr val="FFFFFF"/>
          </a:solidFill>
          <a:ln w="60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5528" y="4599432"/>
            <a:ext cx="292608" cy="292608"/>
          </a:xfrm>
          <a:prstGeom prst="rect">
            <a:avLst/>
          </a:prstGeom>
          <a:solidFill>
            <a:srgbClr val="EB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8" y="459943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 i="0">
                <a:solidFill>
                  <a:srgbClr val="0071BC"/>
                </a:solidFill>
                <a:latin typeface="JetBrains Mono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07008" y="4581144"/>
            <a:ext cx="470595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-30">
                <a:solidFill>
                  <a:srgbClr val="1A1F2E"/>
                </a:solidFill>
                <a:latin typeface="Inter"/>
              </a:rPr>
              <a:t>Operação com validação humana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07008" y="4846320"/>
            <a:ext cx="470595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4B5563"/>
                </a:solidFill>
                <a:latin typeface="Inter"/>
              </a:rPr>
              <a:t>Humano no centro nas etapas críticas — IA como copiloto, nunca substituto.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87287" y="4443984"/>
            <a:ext cx="5364327" cy="777240"/>
          </a:xfrm>
          <a:prstGeom prst="rect">
            <a:avLst/>
          </a:prstGeom>
          <a:solidFill>
            <a:srgbClr val="FFFFFF"/>
          </a:solidFill>
          <a:ln w="60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42735" y="4599432"/>
            <a:ext cx="292608" cy="292608"/>
          </a:xfrm>
          <a:prstGeom prst="rect">
            <a:avLst/>
          </a:prstGeom>
          <a:solidFill>
            <a:srgbClr val="EB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42735" y="459943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 i="0">
                <a:solidFill>
                  <a:srgbClr val="0071BC"/>
                </a:solidFill>
                <a:latin typeface="JetBrains Mono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54215" y="4581144"/>
            <a:ext cx="470595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-30">
                <a:solidFill>
                  <a:srgbClr val="1A1F2E"/>
                </a:solidFill>
                <a:latin typeface="Inter"/>
              </a:rPr>
              <a:t>Capacidade multimodal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54215" y="4846320"/>
            <a:ext cx="470595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4B5563"/>
                </a:solidFill>
                <a:latin typeface="Inter"/>
              </a:rPr>
              <a:t>Texto, voz e dados estruturados em um mesmo motor de orquestração.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5340096"/>
            <a:ext cx="5364327" cy="777240"/>
          </a:xfrm>
          <a:prstGeom prst="rect">
            <a:avLst/>
          </a:prstGeom>
          <a:solidFill>
            <a:srgbClr val="FFFFFF"/>
          </a:solidFill>
          <a:ln w="60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5528" y="5495544"/>
            <a:ext cx="292608" cy="292608"/>
          </a:xfrm>
          <a:prstGeom prst="rect">
            <a:avLst/>
          </a:prstGeom>
          <a:solidFill>
            <a:srgbClr val="EB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5528" y="5495544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 i="0">
                <a:solidFill>
                  <a:srgbClr val="0071BC"/>
                </a:solidFill>
                <a:latin typeface="JetBrains Mono"/>
              </a:rPr>
              <a:t>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07008" y="5477256"/>
            <a:ext cx="470595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-30">
                <a:solidFill>
                  <a:srgbClr val="1A1F2E"/>
                </a:solidFill>
                <a:latin typeface="Inter"/>
              </a:rPr>
              <a:t>Flexibilidade de adoção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07008" y="5742432"/>
            <a:ext cx="470595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4B5563"/>
                </a:solidFill>
                <a:latin typeface="Inter"/>
              </a:rPr>
              <a:t>Caminho claro de POC → piloto → expansão, com baixo atrito inicial.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87287" y="5340096"/>
            <a:ext cx="5364327" cy="777240"/>
          </a:xfrm>
          <a:prstGeom prst="rect">
            <a:avLst/>
          </a:prstGeom>
          <a:solidFill>
            <a:srgbClr val="FFFFFF"/>
          </a:solidFill>
          <a:ln w="60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42735" y="5495544"/>
            <a:ext cx="292608" cy="292608"/>
          </a:xfrm>
          <a:prstGeom prst="rect">
            <a:avLst/>
          </a:prstGeom>
          <a:solidFill>
            <a:srgbClr val="EB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42735" y="5495544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 i="0">
                <a:solidFill>
                  <a:srgbClr val="0071BC"/>
                </a:solidFill>
                <a:latin typeface="JetBrains Mono"/>
              </a:rPr>
              <a:t>08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54215" y="5477256"/>
            <a:ext cx="470595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-30">
                <a:solidFill>
                  <a:srgbClr val="1A1F2E"/>
                </a:solidFill>
                <a:latin typeface="Inter"/>
              </a:rPr>
              <a:t>Segurança e governança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54215" y="5742432"/>
            <a:ext cx="470595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4B5563"/>
                </a:solidFill>
                <a:latin typeface="Inter"/>
              </a:rPr>
              <a:t>Foco em segurança da informação, rastreabilidade e conformidade regulatória.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64922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 spc="140">
                <a:solidFill>
                  <a:srgbClr val="9CA3AF"/>
                </a:solidFill>
                <a:latin typeface="JetBrains Mono"/>
              </a:rPr>
              <a:t>DOUTOR-AI · V1.0 · 2026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22815" y="649224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 i="0" spc="140">
                <a:solidFill>
                  <a:srgbClr val="4B5563"/>
                </a:solidFill>
                <a:latin typeface="JetBrains Mono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201168" cy="201168"/>
          </a:xfrm>
          <a:prstGeom prst="roundRect">
            <a:avLst>
              <a:gd name="adj" fmla="val 18000"/>
            </a:avLst>
          </a:prstGeom>
          <a:solidFill>
            <a:srgbClr val="007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2628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A1F2E"/>
                </a:solidFill>
                <a:latin typeface="Inter"/>
              </a:rPr>
              <a:t>Doutor-AI</a:t>
            </a:r>
            <a:r>
              <a:rPr sz="900" b="0" i="0">
                <a:solidFill>
                  <a:srgbClr val="9CA3AF"/>
                </a:solidFill>
                <a:latin typeface="Inter"/>
              </a:rPr>
              <a:t>  ·  </a:t>
            </a:r>
            <a:r>
              <a:rPr sz="750" b="0" i="0" spc="140">
                <a:solidFill>
                  <a:srgbClr val="9CA3AF"/>
                </a:solidFill>
                <a:latin typeface="JetBrains Mono"/>
              </a:rPr>
              <a:t>Apresentação Institucional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94015" y="47548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 i="0" spc="140">
                <a:solidFill>
                  <a:srgbClr val="9CA3AF"/>
                </a:solidFill>
                <a:latin typeface="JetBrains Mono"/>
              </a:rPr>
              <a:t>09 · IMPLANTAÇÃO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749808"/>
            <a:ext cx="10911535" cy="700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160">
                <a:solidFill>
                  <a:srgbClr val="0071BC"/>
                </a:solidFill>
                <a:latin typeface="JetBrains Mono"/>
              </a:rPr>
              <a:t>▸  MODELO DE IMPLANTAÇÃO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1097280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 spc="-100">
                <a:solidFill>
                  <a:srgbClr val="1A1F2E"/>
                </a:solidFill>
                <a:latin typeface="Inter"/>
              </a:rPr>
              <a:t>Como </a:t>
            </a:r>
            <a:r>
              <a:rPr sz="3600" b="1" i="1" spc="-100">
                <a:solidFill>
                  <a:srgbClr val="0071BC"/>
                </a:solidFill>
                <a:latin typeface="Inter"/>
              </a:rPr>
              <a:t>implementamos.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4B5563"/>
                </a:solidFill>
                <a:latin typeface="Inter"/>
              </a:rPr>
              <a:t>Adoção </a:t>
            </a:r>
            <a:r>
              <a:rPr sz="1200" b="1" i="0">
                <a:solidFill>
                  <a:srgbClr val="1A1F2E"/>
                </a:solidFill>
                <a:latin typeface="Inter"/>
              </a:rPr>
              <a:t>incremental e auditável</a:t>
            </a:r>
            <a:r>
              <a:rPr sz="1200" b="0" i="0">
                <a:solidFill>
                  <a:srgbClr val="4B5563"/>
                </a:solidFill>
                <a:latin typeface="Inter"/>
              </a:rPr>
              <a:t>, com início por uma frente específica de alto impacto e expansão guiada por valor comprovado.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40480"/>
            <a:ext cx="1558790" cy="1143000"/>
          </a:xfrm>
          <a:prstGeom prst="rect">
            <a:avLst/>
          </a:prstGeom>
          <a:solidFill>
            <a:srgbClr val="FFFFFF"/>
          </a:solidFill>
          <a:ln w="60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3959352"/>
            <a:ext cx="132104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160">
                <a:solidFill>
                  <a:srgbClr val="0071BC"/>
                </a:solidFill>
                <a:latin typeface="JetBrains Mono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4233672"/>
            <a:ext cx="1321046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-20">
                <a:solidFill>
                  <a:srgbClr val="1A1F2E"/>
                </a:solidFill>
                <a:latin typeface="Inter"/>
              </a:rPr>
              <a:t>Diagnóstico da jornada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98870" y="3840480"/>
            <a:ext cx="1558790" cy="1143000"/>
          </a:xfrm>
          <a:prstGeom prst="rect">
            <a:avLst/>
          </a:prstGeom>
          <a:solidFill>
            <a:srgbClr val="FFFFFF"/>
          </a:solidFill>
          <a:ln w="60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17742" y="3959352"/>
            <a:ext cx="132104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160">
                <a:solidFill>
                  <a:srgbClr val="0071BC"/>
                </a:solidFill>
                <a:latin typeface="JetBrains Mono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17742" y="4233672"/>
            <a:ext cx="1321046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-20">
                <a:solidFill>
                  <a:srgbClr val="1A1F2E"/>
                </a:solidFill>
                <a:latin typeface="Inter"/>
              </a:rPr>
              <a:t>Mapeamento de fluxos e protocolos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57661" y="3840480"/>
            <a:ext cx="1558790" cy="1143000"/>
          </a:xfrm>
          <a:prstGeom prst="rect">
            <a:avLst/>
          </a:prstGeom>
          <a:solidFill>
            <a:srgbClr val="FFFFFF"/>
          </a:solidFill>
          <a:ln w="60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76533" y="3959352"/>
            <a:ext cx="132104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160">
                <a:solidFill>
                  <a:srgbClr val="0071BC"/>
                </a:solidFill>
                <a:latin typeface="JetBrains Mono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76533" y="4233672"/>
            <a:ext cx="1321046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-20">
                <a:solidFill>
                  <a:srgbClr val="1A1F2E"/>
                </a:solidFill>
                <a:latin typeface="Inter"/>
              </a:rPr>
              <a:t>Configuração da 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16452" y="3840480"/>
            <a:ext cx="1558790" cy="1143000"/>
          </a:xfrm>
          <a:prstGeom prst="rect">
            <a:avLst/>
          </a:prstGeom>
          <a:solidFill>
            <a:srgbClr val="FFFFFF"/>
          </a:solidFill>
          <a:ln w="60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35324" y="3959352"/>
            <a:ext cx="132104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160">
                <a:solidFill>
                  <a:srgbClr val="0071BC"/>
                </a:solidFill>
                <a:latin typeface="JetBrains Mono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35324" y="4233672"/>
            <a:ext cx="1321046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-20">
                <a:solidFill>
                  <a:srgbClr val="1A1F2E"/>
                </a:solidFill>
                <a:latin typeface="Inter"/>
              </a:rPr>
              <a:t>Integração com sistemas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75242" y="3840480"/>
            <a:ext cx="1558790" cy="1143000"/>
          </a:xfrm>
          <a:prstGeom prst="rect">
            <a:avLst/>
          </a:prstGeom>
          <a:solidFill>
            <a:srgbClr val="FFFFFF"/>
          </a:solidFill>
          <a:ln w="60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4114" y="3959352"/>
            <a:ext cx="132104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160">
                <a:solidFill>
                  <a:srgbClr val="0071BC"/>
                </a:solidFill>
                <a:latin typeface="JetBrains Mono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4114" y="4233672"/>
            <a:ext cx="1321046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-20">
                <a:solidFill>
                  <a:srgbClr val="1A1F2E"/>
                </a:solidFill>
                <a:latin typeface="Inter"/>
              </a:rPr>
              <a:t>POC em ambiente controlado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34033" y="3840480"/>
            <a:ext cx="1558790" cy="1143000"/>
          </a:xfrm>
          <a:prstGeom prst="rect">
            <a:avLst/>
          </a:prstGeom>
          <a:solidFill>
            <a:srgbClr val="FFFFFF"/>
          </a:solidFill>
          <a:ln w="60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52905" y="3959352"/>
            <a:ext cx="132104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160">
                <a:solidFill>
                  <a:srgbClr val="0071BC"/>
                </a:solidFill>
                <a:latin typeface="JetBrains Mono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52905" y="4233672"/>
            <a:ext cx="1321046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-20">
                <a:solidFill>
                  <a:srgbClr val="1A1F2E"/>
                </a:solidFill>
                <a:latin typeface="Inter"/>
              </a:rPr>
              <a:t>Validação com equipe assistencial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992824" y="3840480"/>
            <a:ext cx="1558790" cy="1143000"/>
          </a:xfrm>
          <a:prstGeom prst="rect">
            <a:avLst/>
          </a:prstGeom>
          <a:solidFill>
            <a:srgbClr val="FFFFFF"/>
          </a:solidFill>
          <a:ln w="60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11696" y="3959352"/>
            <a:ext cx="132104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160">
                <a:solidFill>
                  <a:srgbClr val="0071BC"/>
                </a:solidFill>
                <a:latin typeface="JetBrains Mono"/>
              </a:rP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11696" y="4233672"/>
            <a:ext cx="1321046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-20">
                <a:solidFill>
                  <a:srgbClr val="1A1F2E"/>
                </a:solidFill>
                <a:latin typeface="Inter"/>
              </a:rPr>
              <a:t>Ajustes e expansão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5349240"/>
            <a:ext cx="10911535" cy="777240"/>
          </a:xfrm>
          <a:prstGeom prst="rect">
            <a:avLst/>
          </a:prstGeom>
          <a:solidFill>
            <a:srgbClr val="EBF1F8"/>
          </a:solidFill>
          <a:ln w="6000">
            <a:solidFill>
              <a:srgbClr val="EBF1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5349240"/>
            <a:ext cx="28000" cy="777240"/>
          </a:xfrm>
          <a:prstGeom prst="rect">
            <a:avLst/>
          </a:prstGeom>
          <a:solidFill>
            <a:srgbClr val="007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46811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spc="180">
                <a:solidFill>
                  <a:srgbClr val="0071BC"/>
                </a:solidFill>
                <a:latin typeface="JetBrains Mono"/>
              </a:rPr>
              <a:t>▸  ABORDAGEM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5715000"/>
            <a:ext cx="10454335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F2E"/>
                </a:solidFill>
                <a:latin typeface="Inter"/>
              </a:rPr>
              <a:t>A implantação pode começar com </a:t>
            </a:r>
            <a:r>
              <a:rPr sz="1100" b="1" i="0">
                <a:solidFill>
                  <a:srgbClr val="1A1F2E"/>
                </a:solidFill>
                <a:latin typeface="Inter"/>
              </a:rPr>
              <a:t>uma frente específica de alto impacto</a:t>
            </a:r>
            <a:r>
              <a:rPr sz="1100" b="0" i="0">
                <a:solidFill>
                  <a:srgbClr val="1A1F2E"/>
                </a:solidFill>
                <a:latin typeface="Inter"/>
              </a:rPr>
              <a:t>, validando valor antes da expansão para outras jornadas e unidades.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922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 spc="140">
                <a:solidFill>
                  <a:srgbClr val="9CA3AF"/>
                </a:solidFill>
                <a:latin typeface="JetBrains Mono"/>
              </a:rPr>
              <a:t>DOUTOR-AI · V1.0 ·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22815" y="649224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 i="0" spc="140">
                <a:solidFill>
                  <a:srgbClr val="4B5563"/>
                </a:solidFill>
                <a:latin typeface="JetBrains Mono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201168" cy="201168"/>
          </a:xfrm>
          <a:prstGeom prst="roundRect">
            <a:avLst>
              <a:gd name="adj" fmla="val 18000"/>
            </a:avLst>
          </a:prstGeom>
          <a:solidFill>
            <a:srgbClr val="007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2628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A1F2E"/>
                </a:solidFill>
                <a:latin typeface="Inter"/>
              </a:rPr>
              <a:t>Doutor-AI</a:t>
            </a:r>
            <a:r>
              <a:rPr sz="900" b="0" i="0">
                <a:solidFill>
                  <a:srgbClr val="9CA3AF"/>
                </a:solidFill>
                <a:latin typeface="Inter"/>
              </a:rPr>
              <a:t>  ·  </a:t>
            </a:r>
            <a:r>
              <a:rPr sz="750" b="0" i="0" spc="140">
                <a:solidFill>
                  <a:srgbClr val="9CA3AF"/>
                </a:solidFill>
                <a:latin typeface="JetBrains Mono"/>
              </a:rPr>
              <a:t>Apresentação Institucional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94015" y="47548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 i="0" spc="140">
                <a:solidFill>
                  <a:srgbClr val="9CA3AF"/>
                </a:solidFill>
                <a:latin typeface="JetBrains Mono"/>
              </a:rPr>
              <a:t>10 · VALOR ESPERADO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749808"/>
            <a:ext cx="10911535" cy="700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160">
                <a:solidFill>
                  <a:srgbClr val="0071BC"/>
                </a:solidFill>
                <a:latin typeface="JetBrains Mono"/>
              </a:rPr>
              <a:t>▸  VALOR ESPERADO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1097280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 spc="-100">
                <a:solidFill>
                  <a:srgbClr val="1A1F2E"/>
                </a:solidFill>
                <a:latin typeface="Inter"/>
              </a:rPr>
              <a:t>O que se </a:t>
            </a:r>
            <a:r>
              <a:rPr sz="3600" b="1" i="1" spc="-100">
                <a:solidFill>
                  <a:srgbClr val="0071BC"/>
                </a:solidFill>
                <a:latin typeface="Inter"/>
              </a:rPr>
              <a:t>transforma.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907792"/>
            <a:ext cx="64008" cy="64008"/>
          </a:xfrm>
          <a:prstGeom prst="rect">
            <a:avLst/>
          </a:prstGeom>
          <a:solidFill>
            <a:srgbClr val="007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78892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A1F2E"/>
                </a:solidFill>
                <a:latin typeface="Inter"/>
              </a:rPr>
              <a:t>Mais eficiência</a:t>
            </a:r>
            <a:r>
              <a:rPr sz="1150" b="0" i="0">
                <a:solidFill>
                  <a:srgbClr val="4B5563"/>
                </a:solidFill>
                <a:latin typeface="Inter"/>
              </a:rPr>
              <a:t> no atendimento e em fluxos operacionais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218688"/>
            <a:ext cx="64008" cy="64008"/>
          </a:xfrm>
          <a:prstGeom prst="rect">
            <a:avLst/>
          </a:prstGeom>
          <a:solidFill>
            <a:srgbClr val="007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099816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A1F2E"/>
                </a:solidFill>
                <a:latin typeface="Inter"/>
              </a:rPr>
              <a:t>Redução</a:t>
            </a:r>
            <a:r>
              <a:rPr sz="1150" b="0" i="0">
                <a:solidFill>
                  <a:srgbClr val="4B5563"/>
                </a:solidFill>
                <a:latin typeface="Inter"/>
              </a:rPr>
              <a:t> de tarefas manuais e repetitivas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529584"/>
            <a:ext cx="64008" cy="64008"/>
          </a:xfrm>
          <a:prstGeom prst="rect">
            <a:avLst/>
          </a:prstGeom>
          <a:solidFill>
            <a:srgbClr val="007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41071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A1F2E"/>
                </a:solidFill>
                <a:latin typeface="Inter"/>
              </a:rPr>
              <a:t>Melhor qualidade</a:t>
            </a:r>
            <a:r>
              <a:rPr sz="1150" b="0" i="0">
                <a:solidFill>
                  <a:srgbClr val="4B5563"/>
                </a:solidFill>
                <a:latin typeface="Inter"/>
              </a:rPr>
              <a:t> da informação clínica registrada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840480"/>
            <a:ext cx="64008" cy="64008"/>
          </a:xfrm>
          <a:prstGeom prst="rect">
            <a:avLst/>
          </a:prstGeom>
          <a:solidFill>
            <a:srgbClr val="007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721608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A1F2E"/>
                </a:solidFill>
                <a:latin typeface="Inter"/>
              </a:rPr>
              <a:t>Padronização</a:t>
            </a:r>
            <a:r>
              <a:rPr sz="1150" b="0" i="0">
                <a:solidFill>
                  <a:srgbClr val="4B5563"/>
                </a:solidFill>
                <a:latin typeface="Inter"/>
              </a:rPr>
              <a:t> de protocolos entre unidades e equipes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151376"/>
            <a:ext cx="64008" cy="64008"/>
          </a:xfrm>
          <a:prstGeom prst="rect">
            <a:avLst/>
          </a:prstGeom>
          <a:solidFill>
            <a:srgbClr val="007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4032504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A1F2E"/>
                </a:solidFill>
                <a:latin typeface="Inter"/>
              </a:rPr>
              <a:t>Melhor experiência</a:t>
            </a:r>
            <a:r>
              <a:rPr sz="1150" b="0" i="0">
                <a:solidFill>
                  <a:srgbClr val="4B5563"/>
                </a:solidFill>
                <a:latin typeface="Inter"/>
              </a:rPr>
              <a:t> do paciente em toda a jornada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462272"/>
            <a:ext cx="64008" cy="64008"/>
          </a:xfrm>
          <a:prstGeom prst="rect">
            <a:avLst/>
          </a:prstGeom>
          <a:solidFill>
            <a:srgbClr val="007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434340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A1F2E"/>
                </a:solidFill>
                <a:latin typeface="Inter"/>
              </a:rPr>
              <a:t>Apoio</a:t>
            </a:r>
            <a:r>
              <a:rPr sz="1150" b="0" i="0">
                <a:solidFill>
                  <a:srgbClr val="4B5563"/>
                </a:solidFill>
                <a:latin typeface="Inter"/>
              </a:rPr>
              <a:t> consistente à tomada de decisão clínica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773168"/>
            <a:ext cx="64008" cy="64008"/>
          </a:xfrm>
          <a:prstGeom prst="rect">
            <a:avLst/>
          </a:prstGeom>
          <a:solidFill>
            <a:srgbClr val="007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4654296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A1F2E"/>
                </a:solidFill>
                <a:latin typeface="Inter"/>
              </a:rPr>
              <a:t>Escalabilidade</a:t>
            </a:r>
            <a:r>
              <a:rPr sz="1150" b="0" i="0">
                <a:solidFill>
                  <a:srgbClr val="4B5563"/>
                </a:solidFill>
                <a:latin typeface="Inter"/>
              </a:rPr>
              <a:t> operacional com governança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2743200"/>
            <a:ext cx="2278227" cy="1143000"/>
          </a:xfrm>
          <a:prstGeom prst="rect">
            <a:avLst/>
          </a:prstGeom>
          <a:solidFill>
            <a:srgbClr val="FFFFFF"/>
          </a:solidFill>
          <a:ln w="60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22592" y="2907792"/>
            <a:ext cx="1949043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160">
                <a:solidFill>
                  <a:srgbClr val="0071BC"/>
                </a:solidFill>
                <a:latin typeface="JetBrains Mono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22592" y="3108960"/>
            <a:ext cx="1949043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 spc="-50">
                <a:solidFill>
                  <a:srgbClr val="1A1F2E"/>
                </a:solidFill>
                <a:latin typeface="Inter"/>
              </a:rPr>
              <a:t>Eficiência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22592" y="3474720"/>
            <a:ext cx="194904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4B5563"/>
                </a:solidFill>
                <a:latin typeface="Inter"/>
              </a:rPr>
              <a:t>Menos retrabalho e mais throughput por equipe.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73387" y="2743200"/>
            <a:ext cx="2278227" cy="1143000"/>
          </a:xfrm>
          <a:prstGeom prst="rect">
            <a:avLst/>
          </a:prstGeom>
          <a:solidFill>
            <a:srgbClr val="FFFFFF"/>
          </a:solidFill>
          <a:ln w="60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37979" y="2907792"/>
            <a:ext cx="1949043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160">
                <a:solidFill>
                  <a:srgbClr val="0071BC"/>
                </a:solidFill>
                <a:latin typeface="JetBrains Mono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37979" y="3108960"/>
            <a:ext cx="1949043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 spc="-50">
                <a:solidFill>
                  <a:srgbClr val="1A1F2E"/>
                </a:solidFill>
                <a:latin typeface="Inter"/>
              </a:rPr>
              <a:t>Segurança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37979" y="3474720"/>
            <a:ext cx="194904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4B5563"/>
                </a:solidFill>
                <a:latin typeface="Inter"/>
              </a:rPr>
              <a:t>Padronização, rastreabilidade e governança.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4023360"/>
            <a:ext cx="2278227" cy="1143000"/>
          </a:xfrm>
          <a:prstGeom prst="rect">
            <a:avLst/>
          </a:prstGeom>
          <a:solidFill>
            <a:srgbClr val="FFFFFF"/>
          </a:solidFill>
          <a:ln w="60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22592" y="4187952"/>
            <a:ext cx="1949043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160">
                <a:solidFill>
                  <a:srgbClr val="0071BC"/>
                </a:solidFill>
                <a:latin typeface="JetBrains Mono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22592" y="4389120"/>
            <a:ext cx="1949043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 spc="-50">
                <a:solidFill>
                  <a:srgbClr val="1A1F2E"/>
                </a:solidFill>
                <a:latin typeface="Inter"/>
              </a:rPr>
              <a:t>Experiência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22592" y="4754880"/>
            <a:ext cx="194904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4B5563"/>
                </a:solidFill>
                <a:latin typeface="Inter"/>
              </a:rPr>
              <a:t>Atendimento mais fluido para paciente e equipe.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73387" y="4023360"/>
            <a:ext cx="2278227" cy="1143000"/>
          </a:xfrm>
          <a:prstGeom prst="rect">
            <a:avLst/>
          </a:prstGeom>
          <a:solidFill>
            <a:srgbClr val="FFFFFF"/>
          </a:solidFill>
          <a:ln w="60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37979" y="4187952"/>
            <a:ext cx="1949043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160">
                <a:solidFill>
                  <a:srgbClr val="0071BC"/>
                </a:solidFill>
                <a:latin typeface="JetBrains Mono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37979" y="4389120"/>
            <a:ext cx="1949043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 spc="-50">
                <a:solidFill>
                  <a:srgbClr val="1A1F2E"/>
                </a:solidFill>
                <a:latin typeface="Inter"/>
              </a:rPr>
              <a:t>Escala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37979" y="4754880"/>
            <a:ext cx="194904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4B5563"/>
                </a:solidFill>
                <a:latin typeface="Inter"/>
              </a:rPr>
              <a:t>Capacidade ampliada sem perda de qualidade.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0" y="5303520"/>
            <a:ext cx="4693615" cy="1143000"/>
          </a:xfrm>
          <a:prstGeom prst="rect">
            <a:avLst/>
          </a:prstGeom>
          <a:solidFill>
            <a:srgbClr val="0071BC"/>
          </a:solidFill>
          <a:ln w="6000">
            <a:solidFill>
              <a:srgbClr val="007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59168" y="5504688"/>
            <a:ext cx="4291279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160">
                <a:solidFill>
                  <a:srgbClr val="FFFFFF"/>
                </a:solidFill>
                <a:latin typeface="JetBrains Mono"/>
              </a:rPr>
              <a:t>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59168" y="5705856"/>
            <a:ext cx="429127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 spc="-50">
                <a:solidFill>
                  <a:srgbClr val="FFFFFF"/>
                </a:solidFill>
                <a:latin typeface="Inter"/>
              </a:rPr>
              <a:t>Inteligência operacional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59168" y="6071616"/>
            <a:ext cx="4291279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FFFFFF"/>
                </a:solidFill>
                <a:latin typeface="Inter"/>
              </a:rPr>
              <a:t>Dados estruturados para decisão clínica e de gestão.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6217920"/>
            <a:ext cx="1091153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9CA3AF"/>
                </a:solidFill>
                <a:latin typeface="Inter"/>
              </a:rPr>
              <a:t>Benefícios esperados, sustentados pelo desenho da plataforma e pelas jornadas implantadas. Métricas absolutas dependem do escopo e da maturidade de cada instituição.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64922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 spc="140">
                <a:solidFill>
                  <a:srgbClr val="9CA3AF"/>
                </a:solidFill>
                <a:latin typeface="JetBrains Mono"/>
              </a:rPr>
              <a:t>DOUTOR-AI · V1.0 ·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22815" y="649224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 i="0" spc="140">
                <a:solidFill>
                  <a:srgbClr val="4B5563"/>
                </a:solidFill>
                <a:latin typeface="JetBrains Mono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201168" cy="201168"/>
          </a:xfrm>
          <a:prstGeom prst="roundRect">
            <a:avLst>
              <a:gd name="adj" fmla="val 18000"/>
            </a:avLst>
          </a:prstGeom>
          <a:solidFill>
            <a:srgbClr val="007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2628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A1F2E"/>
                </a:solidFill>
                <a:latin typeface="Inter"/>
              </a:rPr>
              <a:t>Doutor-AI</a:t>
            </a:r>
            <a:r>
              <a:rPr sz="900" b="0" i="0">
                <a:solidFill>
                  <a:srgbClr val="9CA3AF"/>
                </a:solidFill>
                <a:latin typeface="Inter"/>
              </a:rPr>
              <a:t>  ·  </a:t>
            </a:r>
            <a:r>
              <a:rPr sz="750" b="0" i="0" spc="140">
                <a:solidFill>
                  <a:srgbClr val="9CA3AF"/>
                </a:solidFill>
                <a:latin typeface="JetBrains Mono"/>
              </a:rPr>
              <a:t>Apresentação Institucional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94015" y="47548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 i="0" spc="140">
                <a:solidFill>
                  <a:srgbClr val="9CA3AF"/>
                </a:solidFill>
                <a:latin typeface="JetBrains Mono"/>
              </a:rPr>
              <a:t>11 · PRÓXIMOS PASSOS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749808"/>
            <a:ext cx="10911535" cy="700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160">
                <a:solidFill>
                  <a:srgbClr val="0071BC"/>
                </a:solidFill>
                <a:latin typeface="JetBrains Mono"/>
              </a:rPr>
              <a:t>▸  FECHAMENTO &amp; PRÓXIMOS PASSOS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1097280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 spc="-100">
                <a:solidFill>
                  <a:srgbClr val="1A1F2E"/>
                </a:solidFill>
                <a:latin typeface="Inter"/>
              </a:rPr>
              <a:t>Como </a:t>
            </a:r>
            <a:r>
              <a:rPr sz="3600" b="1" i="1" spc="-100">
                <a:solidFill>
                  <a:srgbClr val="0071BC"/>
                </a:solidFill>
                <a:latin typeface="Inter"/>
              </a:rPr>
              <a:t>avançar.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51760"/>
            <a:ext cx="3545738" cy="777240"/>
          </a:xfrm>
          <a:prstGeom prst="rect">
            <a:avLst/>
          </a:prstGeom>
          <a:solidFill>
            <a:srgbClr val="FFFFFF"/>
          </a:solidFill>
          <a:ln w="60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816352"/>
            <a:ext cx="3216554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spc="160">
                <a:solidFill>
                  <a:srgbClr val="0071BC"/>
                </a:solidFill>
                <a:latin typeface="JetBrains Mono"/>
              </a:rPr>
              <a:t>01 · ESCOPO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072384"/>
            <a:ext cx="3216554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-30">
                <a:solidFill>
                  <a:srgbClr val="1A1F2E"/>
                </a:solidFill>
                <a:latin typeface="Inter"/>
              </a:rPr>
              <a:t>Definir a jornada prioritária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2978" y="2651760"/>
            <a:ext cx="3545738" cy="777240"/>
          </a:xfrm>
          <a:prstGeom prst="rect">
            <a:avLst/>
          </a:prstGeom>
          <a:solidFill>
            <a:srgbClr val="FFFFFF"/>
          </a:solidFill>
          <a:ln w="60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7570" y="2816352"/>
            <a:ext cx="3216554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spc="160">
                <a:solidFill>
                  <a:srgbClr val="0071BC"/>
                </a:solidFill>
                <a:latin typeface="JetBrains Mono"/>
              </a:rPr>
              <a:t>02 · PILOTO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7570" y="3072384"/>
            <a:ext cx="3216554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-30">
                <a:solidFill>
                  <a:srgbClr val="1A1F2E"/>
                </a:solidFill>
                <a:latin typeface="Inter"/>
              </a:rPr>
              <a:t>Escolher unidade, canal ou fluxo piloto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5876" y="2651760"/>
            <a:ext cx="3545738" cy="777240"/>
          </a:xfrm>
          <a:prstGeom prst="rect">
            <a:avLst/>
          </a:prstGeom>
          <a:solidFill>
            <a:srgbClr val="FFFFFF"/>
          </a:solidFill>
          <a:ln w="60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70468" y="2816352"/>
            <a:ext cx="3216554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spc="160">
                <a:solidFill>
                  <a:srgbClr val="0071BC"/>
                </a:solidFill>
                <a:latin typeface="JetBrains Mono"/>
              </a:rPr>
              <a:t>03 · INSUMOS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0468" y="3072384"/>
            <a:ext cx="3216554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-30">
                <a:solidFill>
                  <a:srgbClr val="1A1F2E"/>
                </a:solidFill>
                <a:latin typeface="Inter"/>
              </a:rPr>
              <a:t>Levantar protocolos e scripts existentes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566160"/>
            <a:ext cx="3545738" cy="777240"/>
          </a:xfrm>
          <a:prstGeom prst="rect">
            <a:avLst/>
          </a:prstGeom>
          <a:solidFill>
            <a:srgbClr val="FFFFFF"/>
          </a:solidFill>
          <a:ln w="60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3730752"/>
            <a:ext cx="3216554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spc="160">
                <a:solidFill>
                  <a:srgbClr val="0071BC"/>
                </a:solidFill>
                <a:latin typeface="JetBrains Mono"/>
              </a:rPr>
              <a:t>04 · TÉCNICO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3986784"/>
            <a:ext cx="3216554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-30">
                <a:solidFill>
                  <a:srgbClr val="1A1F2E"/>
                </a:solidFill>
                <a:latin typeface="Inter"/>
              </a:rPr>
              <a:t>Alinhar integrações necessárias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2978" y="3566160"/>
            <a:ext cx="3545738" cy="777240"/>
          </a:xfrm>
          <a:prstGeom prst="rect">
            <a:avLst/>
          </a:prstGeom>
          <a:solidFill>
            <a:srgbClr val="FFFFFF"/>
          </a:solidFill>
          <a:ln w="60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7570" y="3730752"/>
            <a:ext cx="3216554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spc="160">
                <a:solidFill>
                  <a:srgbClr val="0071BC"/>
                </a:solidFill>
                <a:latin typeface="JetBrains Mono"/>
              </a:rPr>
              <a:t>05 · MÉTRICAS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7570" y="3986784"/>
            <a:ext cx="3216554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-30">
                <a:solidFill>
                  <a:srgbClr val="1A1F2E"/>
                </a:solidFill>
                <a:latin typeface="Inter"/>
              </a:rPr>
              <a:t>Definir critérios de sucesso da POC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05876" y="3566160"/>
            <a:ext cx="3545738" cy="777240"/>
          </a:xfrm>
          <a:prstGeom prst="rect">
            <a:avLst/>
          </a:prstGeom>
          <a:solidFill>
            <a:srgbClr val="FFFFFF"/>
          </a:solidFill>
          <a:ln w="60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70468" y="3730752"/>
            <a:ext cx="3216554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spc="160">
                <a:solidFill>
                  <a:srgbClr val="0071BC"/>
                </a:solidFill>
                <a:latin typeface="JetBrains Mono"/>
              </a:rPr>
              <a:t>06 · EXECUÇÃO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70468" y="3986784"/>
            <a:ext cx="3216554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-30">
                <a:solidFill>
                  <a:srgbClr val="1A1F2E"/>
                </a:solidFill>
                <a:latin typeface="Inter"/>
              </a:rPr>
              <a:t>Iniciar piloto controlado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617720"/>
            <a:ext cx="10911535" cy="141732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800600"/>
            <a:ext cx="10271455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spc="180">
                <a:solidFill>
                  <a:srgbClr val="8FC3EA"/>
                </a:solidFill>
                <a:latin typeface="JetBrains Mono"/>
              </a:rPr>
              <a:t>▸  MENSAGEM FINAL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074920"/>
            <a:ext cx="10271455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 spc="-40">
                <a:solidFill>
                  <a:srgbClr val="FFFFFF"/>
                </a:solidFill>
                <a:latin typeface="Inter"/>
              </a:rPr>
              <a:t>A Doutor AI ajuda instituições de saúde a transformar jornadas complexas em fluxos </a:t>
            </a:r>
            <a:r>
              <a:rPr sz="1600" b="1" i="1" spc="-40">
                <a:solidFill>
                  <a:srgbClr val="8FC3EA"/>
                </a:solidFill>
                <a:latin typeface="Inter"/>
              </a:rPr>
              <a:t>mais inteligentes, eficientes e centrados no paciente.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922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 spc="140">
                <a:solidFill>
                  <a:srgbClr val="9CA3AF"/>
                </a:solidFill>
                <a:latin typeface="JetBrains Mono"/>
              </a:rPr>
              <a:t>DOUTOR-AI · V1.0 ·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22815" y="649224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 i="0" spc="140">
                <a:solidFill>
                  <a:srgbClr val="4B5563"/>
                </a:solidFill>
                <a:latin typeface="JetBrains Mono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