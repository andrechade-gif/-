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71BC"/>
                </a:solidFill>
                <a:latin typeface="Inter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FFFFF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FFFFF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FFFFFF"/>
                </a:solidFill>
                <a:latin typeface="JetBrains Mono"/>
              </a:rPr>
              <a:t>V1.0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FFFFFF"/>
                </a:solidFill>
                <a:latin typeface="JetBrains Mono"/>
              </a:rPr>
              <a:t>▸  APRESENTAÇÃO INSTITUCIONAL · INTERNA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600" b="1" i="0" spc="-450">
                <a:solidFill>
                  <a:srgbClr val="FFFFFF"/>
                </a:solidFill>
                <a:latin typeface="Inter"/>
              </a:rPr>
              <a:t>Doutor AI.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3200400" cy="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10911535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i="0" spc="-60">
                <a:solidFill>
                  <a:srgbClr val="FFFFFF"/>
                </a:solidFill>
                <a:latin typeface="Inter"/>
              </a:rPr>
              <a:t>Inteligência artificial para transformar
</a:t>
            </a:r>
          </a:p>
          <a:p>
            <a:pPr algn="l">
              <a:lnSpc>
                <a:spcPct val="110000"/>
              </a:lnSpc>
            </a:pPr>
            <a:r>
              <a:rPr sz="2800" b="0" i="0" spc="-60">
                <a:solidFill>
                  <a:srgbClr val="FFFFFF"/>
                </a:solidFill>
                <a:latin typeface="Inter"/>
              </a:rPr>
              <a:t>a </a:t>
            </a:r>
            <a:r>
              <a:rPr sz="2800" b="1" i="1" spc="-60">
                <a:solidFill>
                  <a:srgbClr val="8FC3EA"/>
                </a:solidFill>
                <a:latin typeface="Inter"/>
              </a:rPr>
              <a:t>jornada</a:t>
            </a:r>
            <a:r>
              <a:rPr sz="2800" b="0" i="0" spc="-60">
                <a:solidFill>
                  <a:srgbClr val="FFFFFF"/>
                </a:solidFill>
                <a:latin typeface="Inter"/>
              </a:rPr>
              <a:t> de saúde.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Mais eficiência, inteligência operacional e suporte clínico para hospitais, operadoras, clínicas e plataformas de telemedicina.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989320"/>
            <a:ext cx="10911535" cy="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0819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FFFFF"/>
                </a:solidFill>
                <a:latin typeface="JetBrains Mono"/>
              </a:rPr>
              <a:t>DOCUMENTO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093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nter"/>
              </a:rPr>
              <a:t>Institucional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610819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FFFFF"/>
                </a:solidFill>
                <a:latin typeface="JetBrains Mono"/>
              </a:rPr>
              <a:t>USO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63093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nter"/>
              </a:rPr>
              <a:t>Interno · Comercial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610819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FFFFF"/>
                </a:solidFill>
                <a:latin typeface="JetBrains Mono"/>
              </a:rPr>
              <a:t>SLIDES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30936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01 · QUEM SOMOS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QUEM SOMOS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A camada de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inteligência</a:t>
            </a:r>
            <a:r>
              <a:rPr sz="3600" b="0" i="0">
                <a:solidFill>
                  <a:srgbClr val="1A1F2E"/>
                </a:solidFill>
                <a:latin typeface="Inter"/>
              </a:rPr>
              <a:t>​</a:t>
            </a:r>
          </a:p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assistencial e operacional.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4B5563"/>
                </a:solidFill>
                <a:latin typeface="Inter"/>
              </a:rPr>
              <a:t>A </a:t>
            </a:r>
            <a:r>
              <a:rPr sz="1300" b="1" i="0">
                <a:solidFill>
                  <a:srgbClr val="1A1F2E"/>
                </a:solidFill>
                <a:latin typeface="Inter"/>
              </a:rPr>
              <a:t>Doutor AI</a:t>
            </a:r>
            <a:r>
              <a:rPr sz="1300" b="0" i="0">
                <a:solidFill>
                  <a:srgbClr val="4B5563"/>
                </a:solidFill>
                <a:latin typeface="Inter"/>
              </a:rPr>
              <a:t> é uma health tech que aplica inteligência artificial em jornadas assistenciais e operacionais de saúde — conectando pacientes, profissionais e instituições em fluxos mais </a:t>
            </a:r>
            <a:r>
              <a:rPr sz="1300" b="1" i="0">
                <a:solidFill>
                  <a:srgbClr val="1A1F2E"/>
                </a:solidFill>
                <a:latin typeface="Inter"/>
              </a:rPr>
              <a:t>eficientes, seguros e inteligentes</a:t>
            </a:r>
            <a:r>
              <a:rPr sz="1300" b="0" i="0">
                <a:solidFill>
                  <a:srgbClr val="4B5563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TRÊS PILARES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97680"/>
            <a:ext cx="3545738" cy="17830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622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01 · JORNADA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7183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-40">
                <a:solidFill>
                  <a:srgbClr val="1A1F2E"/>
                </a:solidFill>
                <a:latin typeface="Inter"/>
              </a:rPr>
              <a:t>IA aplicada à jornada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20640"/>
            <a:ext cx="321655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4B5563"/>
                </a:solidFill>
                <a:latin typeface="Inter"/>
              </a:rPr>
              <a:t>Conversas estruturadas, coleta clínica e orquestração de fluxos do pré ao pós-atendimento.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2978" y="4297680"/>
            <a:ext cx="3545738" cy="17830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7570" y="44622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02 · AUTOMAÇÃO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7570" y="47183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-40">
                <a:solidFill>
                  <a:srgbClr val="1A1F2E"/>
                </a:solidFill>
                <a:latin typeface="Inter"/>
              </a:rPr>
              <a:t>Automação de tarefas operacionais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7570" y="5120640"/>
            <a:ext cx="321655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4B5563"/>
                </a:solidFill>
                <a:latin typeface="Inter"/>
              </a:rPr>
              <a:t>Redução de retrabalho em processos repetitivos, registros e integrações entre sistemas.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876" y="4297680"/>
            <a:ext cx="3545738" cy="17830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0468" y="44622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03 · SUPORTE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0468" y="47183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-40">
                <a:solidFill>
                  <a:srgbClr val="1A1F2E"/>
                </a:solidFill>
                <a:latin typeface="Inter"/>
              </a:rPr>
              <a:t>Suporte à decisão e ao atendimento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0468" y="5120640"/>
            <a:ext cx="321655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4B5563"/>
                </a:solidFill>
                <a:latin typeface="Inter"/>
              </a:rPr>
              <a:t>Copiloto clínico, alertas e protocolos para apoiar — não substituir — o profissional de saúde.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02 ·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O PROBLEMA QUE RESOLVEMOS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Saúde opera no limite.</a:t>
            </a:r>
          </a:p>
          <a:p>
            <a:pPr algn="l">
              <a:lnSpc>
                <a:spcPct val="100000"/>
              </a:lnSpc>
            </a:pPr>
            <a:r>
              <a:rPr sz="3600" b="1" i="1" spc="-100">
                <a:solidFill>
                  <a:srgbClr val="0071BC"/>
                </a:solidFill>
                <a:latin typeface="Inter"/>
              </a:rPr>
              <a:t>Todos os dias.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11880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7764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01 · DEMANDA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325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Volume e filas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34840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Alto volume de atendimentos e filas que excedem a capacidade instalada.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3611880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7570" y="37764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02 · PROCESSOS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7570" y="40325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Manual e repetitivo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7570" y="4434840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Processos manuais, repetitivos e sem padronização entre unidades e equipes.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5876" y="3611880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0468" y="377647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03 · 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0468" y="4032504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Perdas entre etapas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0468" y="4434840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Informações clínicas que se perdem ao longo da jornada e prejudicam decisões.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93792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58384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04 · EQUIPE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614416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Sobrecarga clínica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016752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Profissionais sobrecarregados em tarefas administrativas, com menos foco no paciente.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2978" y="5193792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7570" y="5358384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05 · JORNADA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7570" y="5614416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Acompanhamento frágil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7570" y="6016752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Dificuldade de acompanhar pacientes de forma ativa entre consultas e exames.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5876" y="5193792"/>
            <a:ext cx="3545738" cy="14173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0468" y="5358384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60">
                <a:solidFill>
                  <a:srgbClr val="0071BC"/>
                </a:solidFill>
                <a:latin typeface="JetBrains Mono"/>
              </a:rPr>
              <a:t>06 · NEGÓCIO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0468" y="5614416"/>
            <a:ext cx="321655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 spc="-40">
                <a:solidFill>
                  <a:srgbClr val="1A1F2E"/>
                </a:solidFill>
                <a:latin typeface="Inter"/>
              </a:rPr>
              <a:t>Custo &amp; receita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0468" y="6016752"/>
            <a:ext cx="321655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Ineficiências que impactam custo, receita, experiência e qualidade assistencial.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03 · PROPOSTA DE VALOR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PROPOSTA DE VALOR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IA para dar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escala</a:t>
            </a:r>
          </a:p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sem perder qualidade.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4B5563"/>
                </a:solidFill>
                <a:latin typeface="Inter"/>
              </a:rPr>
              <a:t>A Doutor AI estrutura conversas, coleta dados, organiza informações clínicas, automatiza etapas operacionais e apoia profissionais </a:t>
            </a:r>
            <a:r>
              <a:rPr sz="1300" b="1" i="0">
                <a:solidFill>
                  <a:srgbClr val="1A1F2E"/>
                </a:solidFill>
                <a:latin typeface="Inter"/>
              </a:rPr>
              <a:t>em tempo real</a:t>
            </a:r>
            <a:r>
              <a:rPr sz="1300" b="0" i="0">
                <a:solidFill>
                  <a:srgbClr val="4B5563"/>
                </a:solidFill>
                <a:latin typeface="Inter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57600"/>
            <a:ext cx="5318607" cy="2697480"/>
          </a:xfrm>
          <a:prstGeom prst="rect">
            <a:avLst/>
          </a:prstGeom>
          <a:solidFill>
            <a:srgbClr val="FAFAFA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5318607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4B5563"/>
                </a:solidFill>
                <a:latin typeface="JetBrains Mono"/>
              </a:rPr>
              <a:t>▸  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Atendimento fragmentado entre canais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572000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Coleta clínica manual e inconsistente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956048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74336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Baixa previsibilidade da jornada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340096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58384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Retrabalho entre etapas e sistemas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724144"/>
            <a:ext cx="4861407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742432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B5563"/>
                </a:solidFill>
                <a:latin typeface="Inter"/>
              </a:rPr>
              <a:t>Decisões sem suporte estruturado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3657600"/>
            <a:ext cx="5318607" cy="2697480"/>
          </a:xfrm>
          <a:prstGeom prst="rect">
            <a:avLst/>
          </a:prstGeom>
          <a:solidFill>
            <a:srgbClr val="EBF1F8"/>
          </a:solidFill>
          <a:ln w="6000">
            <a:solidFill>
              <a:srgbClr val="8FC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7" y="3886200"/>
            <a:ext cx="5318607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0071BC"/>
                </a:solidFill>
                <a:latin typeface="JetBrains Mono"/>
              </a:rPr>
              <a:t>▸  DEPOIS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4206240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Jornada estruturada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orquestrada por 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1607" y="4572000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4590288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Dados organizados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padronizados em tempo real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61607" y="4956048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4974336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Protocolos assistidos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alertas inteligentes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1607" y="5340096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5358384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Equipe mais produtiva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e focada no paciente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61607" y="5724144"/>
            <a:ext cx="4861407" cy="6000"/>
          </a:xfrm>
          <a:prstGeom prst="rect">
            <a:avLst/>
          </a:prstGeom>
          <a:solidFill>
            <a:srgbClr val="8FC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1607" y="5742432"/>
            <a:ext cx="4861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Visibilidade ponta-a-ponta</a:t>
            </a:r>
            <a:r>
              <a:rPr sz="1150" b="0" i="0">
                <a:solidFill>
                  <a:srgbClr val="1A1F2E"/>
                </a:solidFill>
                <a:latin typeface="Inter"/>
              </a:rPr>
              <a:t> da operação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04 · CAPACIDADES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O QUE A PLATAFORMA FAZ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14300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spc="-100">
                <a:solidFill>
                  <a:srgbClr val="1A1F2E"/>
                </a:solidFill>
                <a:latin typeface="Inter"/>
              </a:rPr>
              <a:t>Capacidades aplicadas a </a:t>
            </a:r>
            <a:r>
              <a:rPr sz="3400" b="1" i="1" spc="-100">
                <a:solidFill>
                  <a:srgbClr val="0071BC"/>
                </a:solidFill>
                <a:latin typeface="Inter"/>
              </a:rPr>
              <a:t>fluxos clínicos reais.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Triagem inteligente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Por texto, voz ou canais digitais — com priorização clínica.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5395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2555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Coleta clínica estruturada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2555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Dados organizados desde o primeiro contato com o paciente.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0711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7871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Classificação de risco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Direcionamento assistencial baseado em protocolos.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274320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187" y="288036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Transcrição &amp; sumarização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187" y="329184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Registro automático de atendimentos com resumo clínico.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Copiloto clínico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Suporte em tempo real ao raciocínio e à conduta.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5395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2555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Integração com prontuário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2555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Conexão com EHR e sistemas hospitalares existentes.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0711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Alertas &amp; protocolos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Apoio baseado em diretrizes institucionais e clínicas.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4023360"/>
            <a:ext cx="2636443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43187" y="4160520"/>
            <a:ext cx="2362123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-30">
                <a:solidFill>
                  <a:srgbClr val="1A1F2E"/>
                </a:solidFill>
                <a:latin typeface="Inter"/>
              </a:rPr>
              <a:t>Navegação de pacientes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3187" y="4572000"/>
            <a:ext cx="236212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4B5563"/>
                </a:solidFill>
                <a:latin typeface="Inter"/>
              </a:rPr>
              <a:t>Acompanhamento ativo da jornada entre etapas.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94960"/>
            <a:ext cx="10911535" cy="713232"/>
          </a:xfrm>
          <a:prstGeom prst="rect">
            <a:avLst/>
          </a:prstGeom>
          <a:solidFill>
            <a:srgbClr val="EBF1F8"/>
          </a:solidFill>
          <a:ln w="6000">
            <a:solidFill>
              <a:srgbClr val="EBF1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394960"/>
            <a:ext cx="28000" cy="71323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504688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80">
                <a:solidFill>
                  <a:srgbClr val="0071BC"/>
                </a:solidFill>
                <a:latin typeface="JetBrains Mono"/>
              </a:rPr>
              <a:t>▸  MULTIMODAL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724144"/>
            <a:ext cx="1045433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A1F2E"/>
                </a:solidFill>
                <a:latin typeface="Inter"/>
              </a:rPr>
              <a:t>Capacidades operam de forma combinada em </a:t>
            </a:r>
            <a:r>
              <a:rPr sz="1050" b="1" i="0">
                <a:solidFill>
                  <a:srgbClr val="1A1F2E"/>
                </a:solidFill>
                <a:latin typeface="Inter"/>
              </a:rPr>
              <a:t>texto, voz e dados estruturados</a:t>
            </a:r>
            <a:r>
              <a:rPr sz="1050" b="0" i="0">
                <a:solidFill>
                  <a:srgbClr val="1A1F2E"/>
                </a:solidFill>
                <a:latin typeface="Inter"/>
              </a:rPr>
              <a:t>, sempre com validação humana nos pontos críticos da jornada.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05 · JORNADAS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JORNADAS ATENDIDAS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Onde a Doutor AI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atua.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01 · PA / 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Pronto atendimento e pronto-socorro digital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5395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1699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02 · TELE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1699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Telemedicina e atendimento à distância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0711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7015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03 · PRÉ-CONSULTA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7015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Triagem e coleta antes da consulta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2834640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331" y="2980944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04 · PÓS-CONSULTA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331" y="3255264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Checkout médico e orientação pós-atendimento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05 · CRÔNICOS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Gestão e acompanhamento de pacientes crônicos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5395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1699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06 · FATURAMENTO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1699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Apoio a glosas e pertinência clínica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0711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7015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07 · REGISTROS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7015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Automação de documentação clínica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4050792"/>
            <a:ext cx="2636443" cy="105156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331" y="4197096"/>
            <a:ext cx="234383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08 · CANAIS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331" y="4471416"/>
            <a:ext cx="23438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-30">
                <a:solidFill>
                  <a:srgbClr val="1A1F2E"/>
                </a:solidFill>
                <a:latin typeface="Inter"/>
              </a:rPr>
              <a:t>Atendimento via canais digitais e mensageria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Cada jornada pode ser implementada de forma independente ou combinada, </a:t>
            </a:r>
            <a:r>
              <a:rPr sz="1050" b="1" i="0">
                <a:solidFill>
                  <a:srgbClr val="1A1F2E"/>
                </a:solidFill>
                <a:latin typeface="Inter"/>
              </a:rPr>
              <a:t>iniciando por uma frente de alto impacto</a:t>
            </a:r>
            <a:r>
              <a:rPr sz="1050" b="0" i="0">
                <a:solidFill>
                  <a:srgbClr val="4B5563"/>
                </a:solidFill>
                <a:latin typeface="Inter"/>
              </a:rPr>
              <a:t> e expandindo conforme a maturidade da operação.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06 · CLIENTES &amp; PARCEIROS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CLIENTES &amp; PARCEIROS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14300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spc="-100">
                <a:solidFill>
                  <a:srgbClr val="1A1F2E"/>
                </a:solidFill>
                <a:latin typeface="Inter"/>
              </a:rPr>
              <a:t>Construído com </a:t>
            </a:r>
            <a:r>
              <a:rPr sz="3400" b="1" i="1" spc="-100">
                <a:solidFill>
                  <a:srgbClr val="0071BC"/>
                </a:solidFill>
                <a:latin typeface="Inter"/>
              </a:rPr>
              <a:t>instituições</a:t>
            </a:r>
          </a:p>
          <a:p>
            <a:pPr algn="l">
              <a:lnSpc>
                <a:spcPct val="100000"/>
              </a:lnSpc>
            </a:pPr>
            <a:r>
              <a:rPr sz="3400" b="1" i="1" spc="-100">
                <a:solidFill>
                  <a:srgbClr val="0071BC"/>
                </a:solidFill>
                <a:latin typeface="Inter"/>
              </a:rPr>
              <a:t>de referência.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107899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4B5563"/>
                </a:solidFill>
                <a:latin typeface="Inter"/>
              </a:rPr>
              <a:t>Aplicações em </a:t>
            </a:r>
            <a:r>
              <a:rPr sz="1250" b="1" i="0">
                <a:solidFill>
                  <a:srgbClr val="1A1F2E"/>
                </a:solidFill>
                <a:latin typeface="Inter"/>
              </a:rPr>
              <a:t>hospitais, redes, operadoras, telemedicina, oncologia e diagnóstico</a:t>
            </a:r>
            <a:r>
              <a:rPr sz="1250" b="0" i="0">
                <a:solidFill>
                  <a:srgbClr val="4B5563"/>
                </a:solidFill>
                <a:latin typeface="Inter"/>
              </a:rPr>
              <a:t> — em fluxos assistenciais e operacionais.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REDE HOSPITALAR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Rede D'Or São Luiz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Jornadas assistenciais e operacionais em ambiente hospitalar.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40675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5267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ONCOLOGIA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5267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Oncoclínicas&amp;Co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5267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Rede de oncologia e tratamentos especializados.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41270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05862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DIAGNÓSTICO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5862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Evidia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5862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Medicina diagnóstica, imagem e patologia.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1865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457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TELEMEDICINA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457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Topmed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457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Telemedicina e atendimento à distância em escala.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3611880"/>
            <a:ext cx="2109155" cy="16916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7052" y="3776472"/>
            <a:ext cx="177997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70">
                <a:solidFill>
                  <a:srgbClr val="0071BC"/>
                </a:solidFill>
                <a:latin typeface="JetBrains Mono"/>
              </a:rPr>
              <a:t>OPERADORA VERTICALIZADA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7052" y="4050792"/>
            <a:ext cx="1779971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 spc="-50">
                <a:solidFill>
                  <a:srgbClr val="1A1F2E"/>
                </a:solidFill>
                <a:latin typeface="Inter"/>
              </a:rPr>
              <a:t>Leve Saúde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7052" y="4645152"/>
            <a:ext cx="177997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Operadora verticalizada com modelo próprio de cuidado.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440680"/>
            <a:ext cx="10911535" cy="96012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86400"/>
            <a:ext cx="1463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 spc="-200">
                <a:solidFill>
                  <a:srgbClr val="1A1F2E"/>
                </a:solidFill>
                <a:latin typeface="Inter"/>
              </a:rPr>
              <a:t>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586984"/>
            <a:ext cx="8899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-40">
                <a:solidFill>
                  <a:srgbClr val="1A1F2E"/>
                </a:solidFill>
                <a:latin typeface="Inter"/>
              </a:rPr>
              <a:t>unidades / operadoras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5824728"/>
            <a:ext cx="889985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Inter"/>
              </a:rPr>
              <a:t>Operadoras verticalizadas e redes regionais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6062472"/>
            <a:ext cx="889985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30">
                <a:solidFill>
                  <a:srgbClr val="0071BC"/>
                </a:solidFill>
                <a:latin typeface="Inter"/>
              </a:rPr>
              <a:t>Replicação do modelo de prontuário-com-IA em rede credenciada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07 · VALOR POR ÁREA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VALOR POR PÚBLICO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Uma plataforma.</a:t>
            </a:r>
          </a:p>
          <a:p>
            <a:pPr algn="l">
              <a:lnSpc>
                <a:spcPct val="100000"/>
              </a:lnSpc>
            </a:pPr>
            <a:r>
              <a:rPr sz="3600" b="1" i="1" spc="-100">
                <a:solidFill>
                  <a:srgbClr val="0071BC"/>
                </a:solidFill>
                <a:latin typeface="Inter"/>
              </a:rPr>
              <a:t>Quatro públicos.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Operações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Redução de retrabalho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Padronização do fluxo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Ganho de produtividade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2253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85133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1437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Assistência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5133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5133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Melhor coleta de dados clínicos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5133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Apoio à decisão em tempo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5133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Alertas e protocolos institucionais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4427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47307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3611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Gestão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47307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7307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Mais visibilidade da operação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7307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Indicadores da jornada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7307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Eficiência operacional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26601" y="3657600"/>
            <a:ext cx="2625013" cy="246888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09481" y="3904488"/>
            <a:ext cx="73152" cy="73152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5785" y="3822192"/>
            <a:ext cx="21129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30">
                <a:solidFill>
                  <a:srgbClr val="1A1F2E"/>
                </a:solidFill>
                <a:latin typeface="Inter"/>
              </a:rPr>
              <a:t>Financeiro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4206240"/>
            <a:ext cx="2259253" cy="6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43434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Redução de perdas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48006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Melhor documentação clínica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5257800"/>
            <a:ext cx="225925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B5563"/>
                </a:solidFill>
                <a:latin typeface="Inter"/>
              </a:rPr>
              <a:t>Apoio a glosas e pertinência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0936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4B5563"/>
                </a:solidFill>
                <a:latin typeface="Inter"/>
              </a:rPr>
              <a:t>O mesmo motor de IA gera ganhos </a:t>
            </a:r>
            <a:r>
              <a:rPr sz="1000" b="1" i="0">
                <a:solidFill>
                  <a:srgbClr val="1A1F2E"/>
                </a:solidFill>
                <a:latin typeface="Inter"/>
              </a:rPr>
              <a:t>simultâneos</a:t>
            </a:r>
            <a:r>
              <a:rPr sz="1000" b="0" i="0">
                <a:solidFill>
                  <a:srgbClr val="4B5563"/>
                </a:solidFill>
                <a:latin typeface="Inter"/>
              </a:rPr>
              <a:t> para áreas com objetivos distintos, o que facilita o caso de uso interno e a priorização da implantação.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08 · DIFERENCIAIS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DIFERENCIAIS DA DOUTOR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O que nos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distingue.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2807208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807208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2788920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Especialização em saúde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054096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IA construída desde o início para fluxos clínicos, não adaptada de outros setores.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651760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42735" y="2807208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2735" y="2807208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4215" y="2788920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Aplicada a fluxos reais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4215" y="3054096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Modelagem com base em protocolos, jornadas e processos assistenciais concretos.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47872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8" y="3703320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70332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3685032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Personalização por jornada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950208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Configuração por protocolo, unidade e perfil de paciente.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3547872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42735" y="3703320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3703320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4215" y="3685032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Integração com sistemas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4215" y="3950208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Convive com prontuários, ERPs e ferramentas hospitalares existentes.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43984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8" y="4599432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459943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581144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Operação com validação humana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8" y="4846320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Humano no centro nas etapas críticas — IA como copiloto, nunca substituto.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7287" y="4443984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42735" y="4599432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459943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4215" y="4581144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Capacidade multimodal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54215" y="4846320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Texto, voz e dados estruturados em um mesmo motor de orquestração.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340096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5528" y="5495544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" y="5495544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8" y="5477256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Flexibilidade de adoção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7008" y="5742432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Caminho claro de POC → piloto → expansão, com baixo atrito inicial.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5340096"/>
            <a:ext cx="5364327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42735" y="5495544"/>
            <a:ext cx="292608" cy="292608"/>
          </a:xfrm>
          <a:prstGeom prst="rect">
            <a:avLst/>
          </a:prstGeom>
          <a:solidFill>
            <a:srgbClr val="EB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2735" y="5495544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0071BC"/>
                </a:solidFill>
                <a:latin typeface="JetBrains Mono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54215" y="5477256"/>
            <a:ext cx="470595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-30">
                <a:solidFill>
                  <a:srgbClr val="1A1F2E"/>
                </a:solidFill>
                <a:latin typeface="Inter"/>
              </a:rPr>
              <a:t>Segurança e governança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4215" y="5742432"/>
            <a:ext cx="47059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Foco em segurança da informação, rastreabilidade e conformidade regulatória.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09 · IMPLANTAÇÃO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MODELO DE IMPLANTAÇÃO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Como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implementamos.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4B5563"/>
                </a:solidFill>
                <a:latin typeface="Inter"/>
              </a:rPr>
              <a:t>Adoção </a:t>
            </a:r>
            <a:r>
              <a:rPr sz="1200" b="1" i="0">
                <a:solidFill>
                  <a:srgbClr val="1A1F2E"/>
                </a:solidFill>
                <a:latin typeface="Inter"/>
              </a:rPr>
              <a:t>incremental e auditável</a:t>
            </a:r>
            <a:r>
              <a:rPr sz="1200" b="0" i="0">
                <a:solidFill>
                  <a:srgbClr val="4B5563"/>
                </a:solidFill>
                <a:latin typeface="Inter"/>
              </a:rPr>
              <a:t>, com início por uma frente específica de alto impacto e expansão guiada por valor comprovado.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Diagnóstico da jornada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8870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7742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7742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Mapeamento de fluxos e protocolos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57661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6533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6533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Configuração da 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6452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5324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5324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Integração com sistemas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5242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4114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4114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POC em ambiente controlado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4033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2905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2905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Validação com equipe assistencial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92824" y="3840480"/>
            <a:ext cx="1558790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11696" y="3959352"/>
            <a:ext cx="132104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1696" y="4233672"/>
            <a:ext cx="132104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-20">
                <a:solidFill>
                  <a:srgbClr val="1A1F2E"/>
                </a:solidFill>
                <a:latin typeface="Inter"/>
              </a:rPr>
              <a:t>Ajustes e expansão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349240"/>
            <a:ext cx="10911535" cy="777240"/>
          </a:xfrm>
          <a:prstGeom prst="rect">
            <a:avLst/>
          </a:prstGeom>
          <a:solidFill>
            <a:srgbClr val="EBF1F8"/>
          </a:solidFill>
          <a:ln w="6000">
            <a:solidFill>
              <a:srgbClr val="EBF1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349240"/>
            <a:ext cx="28000" cy="777240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468112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80">
                <a:solidFill>
                  <a:srgbClr val="0071BC"/>
                </a:solidFill>
                <a:latin typeface="JetBrains Mono"/>
              </a:rPr>
              <a:t>▸  ABORDAGEM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715000"/>
            <a:ext cx="10454335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F2E"/>
                </a:solidFill>
                <a:latin typeface="Inter"/>
              </a:rPr>
              <a:t>A implantação pode começar com </a:t>
            </a:r>
            <a:r>
              <a:rPr sz="1100" b="1" i="0">
                <a:solidFill>
                  <a:srgbClr val="1A1F2E"/>
                </a:solidFill>
                <a:latin typeface="Inter"/>
              </a:rPr>
              <a:t>uma frente específica de alto impacto</a:t>
            </a:r>
            <a:r>
              <a:rPr sz="1100" b="0" i="0">
                <a:solidFill>
                  <a:srgbClr val="1A1F2E"/>
                </a:solidFill>
                <a:latin typeface="Inter"/>
              </a:rPr>
              <a:t>, validando valor antes da expansão para outras jornadas e unidades.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10 · VALOR ESPERADO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VALOR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O que se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transforma.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07792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7889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Mais eficiência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no atendimento e em fluxos operacionais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18688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099816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Redução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de tarefas manuais e repetitivas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29584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1071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Melhor qualidade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da informação clínica registrada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721608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Padronização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de protocolos entre unidades e equipes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51376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032504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Melhor experiência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do paciente em toda a jornada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62272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34340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Apoio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consistente à tomada de decisão clínica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73168"/>
            <a:ext cx="64008" cy="64008"/>
          </a:xfrm>
          <a:prstGeom prst="rect">
            <a:avLst/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654296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A1F2E"/>
                </a:solidFill>
                <a:latin typeface="Inter"/>
              </a:rPr>
              <a:t>Escalabilidade</a:t>
            </a:r>
            <a:r>
              <a:rPr sz="1150" b="0" i="0">
                <a:solidFill>
                  <a:srgbClr val="4B5563"/>
                </a:solidFill>
                <a:latin typeface="Inter"/>
              </a:rPr>
              <a:t> operacional com governança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74320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90779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310896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Eficiência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2592" y="347472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Menos retrabalho e mais throughput por equipe.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3387" y="274320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37979" y="290779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7979" y="310896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Segurança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37979" y="347472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Padronização, rastreabilidade e governança.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02336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22592" y="418795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438912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Experiência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475488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Atendimento mais fluido para paciente e equipe.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73387" y="4023360"/>
            <a:ext cx="2278227" cy="114300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37979" y="4187952"/>
            <a:ext cx="1949043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0071BC"/>
                </a:solidFill>
                <a:latin typeface="JetBrains Mono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37979" y="4389120"/>
            <a:ext cx="19490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1A1F2E"/>
                </a:solidFill>
                <a:latin typeface="Inter"/>
              </a:rPr>
              <a:t>Escala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7979" y="4754880"/>
            <a:ext cx="194904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B5563"/>
                </a:solidFill>
                <a:latin typeface="Inter"/>
              </a:rPr>
              <a:t>Capacidade ampliada sem perda de qualidade.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5303520"/>
            <a:ext cx="4693615" cy="1143000"/>
          </a:xfrm>
          <a:prstGeom prst="rect">
            <a:avLst/>
          </a:prstGeom>
          <a:solidFill>
            <a:srgbClr val="0071BC"/>
          </a:solidFill>
          <a:ln w="6000">
            <a:solidFill>
              <a:srgbClr val="007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168" y="5504688"/>
            <a:ext cx="4291279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spc="160">
                <a:solidFill>
                  <a:srgbClr val="FFFFFF"/>
                </a:solidFill>
                <a:latin typeface="JetBrains Mono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705856"/>
            <a:ext cx="429127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 spc="-50">
                <a:solidFill>
                  <a:srgbClr val="FFFFFF"/>
                </a:solidFill>
                <a:latin typeface="Inter"/>
              </a:rPr>
              <a:t>Inteligência operacional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6071616"/>
            <a:ext cx="4291279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Inter"/>
              </a:rPr>
              <a:t>Dados estruturados para decisão clínica e de gestão.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217920"/>
            <a:ext cx="1091153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9CA3AF"/>
                </a:solidFill>
                <a:latin typeface="Inter"/>
              </a:rPr>
              <a:t>Benefícios esperados, sustentados pelo desenho da plataforma e pelas jornadas implantadas. Métricas absolutas dependem do escopo e da maturidade de cada instituição.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01168" cy="201168"/>
          </a:xfrm>
          <a:prstGeom prst="roundRect">
            <a:avLst>
              <a:gd name="adj" fmla="val 18000"/>
            </a:avLst>
          </a:prstGeom>
          <a:solidFill>
            <a:srgbClr val="007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2628"/>
            <a:ext cx="2011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1A1F2E"/>
                </a:solidFill>
                <a:latin typeface="Inter"/>
              </a:rPr>
              <a:t>Doutor-AI</a:t>
            </a:r>
            <a:r>
              <a:rPr sz="900" b="0" i="0">
                <a:solidFill>
                  <a:srgbClr val="9CA3AF"/>
                </a:solidFill>
                <a:latin typeface="Inter"/>
              </a:rPr>
              <a:t>  ·  </a:t>
            </a:r>
            <a:r>
              <a:rPr sz="750" b="0" i="0" spc="140">
                <a:solidFill>
                  <a:srgbClr val="9CA3AF"/>
                </a:solidFill>
                <a:latin typeface="JetBrains Mono"/>
              </a:rPr>
              <a:t>Apresentação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4015" y="4754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9CA3AF"/>
                </a:solidFill>
                <a:latin typeface="JetBrains Mono"/>
              </a:rPr>
              <a:t>11 · 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749808"/>
            <a:ext cx="10911535" cy="700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60">
                <a:solidFill>
                  <a:srgbClr val="0071BC"/>
                </a:solidFill>
                <a:latin typeface="JetBrains Mono"/>
              </a:rPr>
              <a:t>▸  FECHAMENTO &amp; 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spc="-100">
                <a:solidFill>
                  <a:srgbClr val="1A1F2E"/>
                </a:solidFill>
                <a:latin typeface="Inter"/>
              </a:rPr>
              <a:t>Como </a:t>
            </a:r>
            <a:r>
              <a:rPr sz="3600" b="1" i="1" spc="-100">
                <a:solidFill>
                  <a:srgbClr val="0071BC"/>
                </a:solidFill>
                <a:latin typeface="Inter"/>
              </a:rPr>
              <a:t>avançar.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163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01 · ESCOPO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723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Definir a jornada prioritária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26517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7570" y="28163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02 · PILOTO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7570" y="30723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Escolher unidade, canal ou fluxo piloto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5876" y="26517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0468" y="28163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03 · INSUMOS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0468" y="30723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Levantar protocolos e scripts existentes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661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7307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04 ·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9867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Alinhar integrações necessárias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2978" y="35661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7570" y="37307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05 · MÉTRICAS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7570" y="39867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Definir critérios de sucesso da 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5876" y="3566160"/>
            <a:ext cx="3545738" cy="777240"/>
          </a:xfrm>
          <a:prstGeom prst="rect">
            <a:avLst/>
          </a:prstGeom>
          <a:solidFill>
            <a:srgbClr val="FFFFFF"/>
          </a:solidFill>
          <a:ln w="60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0468" y="3730752"/>
            <a:ext cx="321655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60">
                <a:solidFill>
                  <a:srgbClr val="0071BC"/>
                </a:solidFill>
                <a:latin typeface="JetBrains Mono"/>
              </a:rPr>
              <a:t>06 · EXECUÇÃO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0468" y="3986784"/>
            <a:ext cx="321655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spc="-30">
                <a:solidFill>
                  <a:srgbClr val="1A1F2E"/>
                </a:solidFill>
                <a:latin typeface="Inter"/>
              </a:rPr>
              <a:t>Iniciar piloto controlado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617720"/>
            <a:ext cx="10911535" cy="141732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800600"/>
            <a:ext cx="102714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80">
                <a:solidFill>
                  <a:srgbClr val="8FC3EA"/>
                </a:solidFill>
                <a:latin typeface="JetBrains Mono"/>
              </a:rPr>
              <a:t>▸  MENSAGEM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074920"/>
            <a:ext cx="1027145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spc="-40">
                <a:solidFill>
                  <a:srgbClr val="FFFFFF"/>
                </a:solidFill>
                <a:latin typeface="Inter"/>
              </a:rPr>
              <a:t>A Doutor AI ajuda instituições de saúde a transformar jornadas complexas em fluxos </a:t>
            </a:r>
            <a:r>
              <a:rPr sz="1600" b="1" i="1" spc="-40">
                <a:solidFill>
                  <a:srgbClr val="8FC3EA"/>
                </a:solidFill>
                <a:latin typeface="Inter"/>
              </a:rPr>
              <a:t>mais inteligentes, eficientes e centrados no paciente.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 i="0" spc="140">
                <a:solidFill>
                  <a:srgbClr val="9CA3AF"/>
                </a:solidFill>
                <a:latin typeface="JetBrains Mono"/>
              </a:rPr>
              <a:t>DOUTOR-AI · V1.0 ·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2815" y="649224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 i="0" spc="140">
                <a:solidFill>
                  <a:srgbClr val="4B5563"/>
                </a:solidFill>
                <a:latin typeface="JetBrains Mono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